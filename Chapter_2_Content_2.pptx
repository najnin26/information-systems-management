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3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0779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E-Business and Collaboration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Management </a:t>
            </a: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 </a:t>
            </a:r>
          </a:p>
          <a:p>
            <a:r>
              <a:rPr lang="en-US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code: </a:t>
            </a:r>
            <a:r>
              <a:rPr lang="en-US" dirty="0">
                <a:solidFill>
                  <a:schemeClr val="bg1"/>
                </a:solidFill>
              </a:rPr>
              <a:t>MIS0611401</a:t>
            </a:r>
          </a:p>
          <a:p>
            <a:pPr marL="0" indent="0">
              <a:buNone/>
            </a:pPr>
            <a:r>
              <a:rPr lang="en-US" sz="16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Najnin</a:t>
            </a:r>
            <a:r>
              <a:rPr lang="en-US" sz="16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Sultana </a:t>
            </a:r>
            <a:r>
              <a:rPr lang="en-US" sz="1600" dirty="0" err="1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Shirin</a:t>
            </a:r>
            <a:endParaRPr lang="en-US" sz="1600" dirty="0" smtClean="0">
              <a:solidFill>
                <a:schemeClr val="bg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 smtClean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Lecturer, CSE, Uttara University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394960" y="1097280"/>
            <a:ext cx="338328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img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330077"/>
            <a:ext cx="3200400" cy="23690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e-business is more than online buying and selling</a:t>
            </a:r>
            <a:endParaRPr lang="en-US" sz="1700" dirty="0"/>
          </a:p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digital technologies into all business operations across borders</a:t>
            </a:r>
            <a:endParaRPr lang="en-US" sz="1700" dirty="0"/>
          </a:p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suppliers, customers, employees and partners worldwide</a:t>
            </a:r>
            <a:endParaRPr lang="en-US" sz="1700" dirty="0"/>
          </a:p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operate seamlessly in a global marketplace</a:t>
            </a:r>
            <a:endParaRPr lang="en-US" sz="1700" dirty="0"/>
          </a:p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Well-designed strategy aligns IS with organizational goals</a:t>
            </a:r>
            <a:endParaRPr lang="en-US" sz="1700" dirty="0"/>
          </a:p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efficiency and competitive advantage</a:t>
            </a:r>
            <a:endParaRPr lang="en-US" sz="1700" dirty="0"/>
          </a:p>
          <a:p>
            <a:pPr marL="285750" indent="-2857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transforms firms into digital enterprises: efficiency, innovation, teamwork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E-Business and Collaboration: Overview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at the center enables five key areas: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processes</a:t>
            </a:r>
            <a:endParaRPr lang="en-US" sz="13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E-business applications</a:t>
            </a:r>
            <a:endParaRPr lang="en-US" sz="13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systems</a:t>
            </a:r>
            <a:endParaRPr lang="en-US" sz="13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business</a:t>
            </a:r>
            <a:endParaRPr lang="en-US" sz="13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e-business</a:t>
            </a:r>
            <a:endParaRPr lang="en-US" sz="13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area connects back to IS: the backbone of modern organizations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Arrows: IS integrates workflows, fosters collaboration, supports global operations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turns firms into digital enterprises competing in a globalized economy</a:t>
            </a:r>
            <a:endParaRPr lang="en-US" sz="1300" dirty="0"/>
          </a:p>
        </p:txBody>
      </p:sp>
      <p:pic>
        <p:nvPicPr>
          <p:cNvPr id="5" name="Image 0" descr="img-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097280"/>
            <a:ext cx="4197282" cy="31069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Global E-Business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IS to manage and integrate business processes across international boundaries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supply chains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customer relationships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financial transactions across regions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Amazon: global logistics and customer service through IS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Daraz (Bangladesh): e-commerce across multiple South Asian countries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operate as unified entities despite geographical dispersion</a:t>
            </a:r>
            <a:endParaRPr lang="en-US" sz="1350" dirty="0"/>
          </a:p>
        </p:txBody>
      </p:sp>
      <p:pic>
        <p:nvPicPr>
          <p:cNvPr id="5" name="Image 0" descr="img-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500922"/>
            <a:ext cx="4023360" cy="2758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E-Business: Four Pillars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Center: Global E-Business, supported by four pillars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integration</a:t>
            </a:r>
            <a:endParaRPr lang="en-US" sz="16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 management</a:t>
            </a:r>
            <a:endParaRPr lang="en-US" sz="16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transactions</a:t>
            </a:r>
            <a:endParaRPr lang="en-US" sz="16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importance</a:t>
            </a:r>
            <a:endParaRPr lang="en-US" sz="1600" b="1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pillar shows how IS lets firms function as unified entities across borders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Arrows: flow of data and processes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is the backbone of globalization in business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Integration and CRM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926080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Integration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integrates operations across countries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syncs logistics, warehouses, customer service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service for a U.S. or Bangladeshi customer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Daraz coordinates listings, payments, deliveries on one IS platform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926080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 Management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personalizes experiences across diverse markets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analyze customer data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 to local preferences, keep global consistency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recommendations adapt to regional patterns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Daraz analytics suggest products for Bangladeshi customers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Transactions and Strategic Importance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647784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Transactions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secures and smooths cross-border payments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gateways handle multiple currencies and regulations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 enables digital payments for Daraz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local finance with global platforms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customer base while keeping trust and compliance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647784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Importance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necessity, not just efficiency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 IS integration risks losing competitiveness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scalability, responsiveness, innovation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adaptation to global market changes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COVID-19: firms with strong global IS pivoted online and kept continuity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Business Processes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206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of organizations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sets of activities with specific outcomes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order fulfillment, customer service, inventory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random tasks: structured workflows, consistent and efficient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fulfillment: receive order, check inventory, process payment, ship, update records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IS: manual, slow, error-prone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IS: standardized, automated, monitored in real time</a:t>
            </a:r>
            <a:endParaRPr lang="en-US" sz="1300" dirty="0"/>
          </a:p>
        </p:txBody>
      </p:sp>
      <p:pic>
        <p:nvPicPr>
          <p:cNvPr id="5" name="Image 0" descr="img-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5965" y="1097280"/>
            <a:ext cx="3641191" cy="356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Processes: Examples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2955897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(Global)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1645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 across thousands of stores</a:t>
            </a:r>
            <a:endParaRPr lang="en-US" sz="115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updates stock, triggers restocking, coordinates suppliers</a:t>
            </a:r>
            <a:endParaRPr lang="en-US" sz="115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stockouts, less excess inventory</a:t>
            </a:r>
            <a:endParaRPr lang="en-US" sz="115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costs, higher satisfaction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920240" cy="2955897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97480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Footwear (BD)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1737360"/>
            <a:ext cx="1645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 production and distribution</a:t>
            </a:r>
            <a:endParaRPr lang="en-US" sz="115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 workflows reduce delays</a:t>
            </a:r>
            <a:endParaRPr lang="en-US" sz="115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raw material, schedules, logistics</a:t>
            </a:r>
            <a:endParaRPr lang="en-US" sz="115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waste, better responsiveness</a:t>
            </a:r>
            <a:endParaRPr lang="en-US" sz="115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firm, global standards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2955897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and Optimization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737360"/>
            <a:ext cx="1645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data entry, order tracking, reporting</a:t>
            </a:r>
            <a:endParaRPr lang="en-US" sz="115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metrics, finds bottlenecks</a:t>
            </a:r>
            <a:endParaRPr lang="en-US" sz="115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show supply chain delays</a:t>
            </a:r>
            <a:endParaRPr lang="en-US" sz="115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Smarter, adaptive processes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920240" cy="2955897"/>
          </a:xfrm>
          <a:prstGeom prst="roundRect">
            <a:avLst>
              <a:gd name="adj" fmla="val 476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and Consistency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1737360"/>
            <a:ext cx="1645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scale as firms grow</a:t>
            </a:r>
            <a:endParaRPr lang="en-US" sz="115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execution in one city or many countries</a:t>
            </a:r>
            <a:endParaRPr lang="en-US" sz="115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with customers and suppliers</a:t>
            </a:r>
            <a:endParaRPr lang="en-US" sz="1150" dirty="0"/>
          </a:p>
          <a:p>
            <a:pPr marL="171450" indent="-1714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service everywhere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Processes: Figure Summary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Center: Business Processes, supported by four areas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fulfillment, customer service, inventory management, supply chain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enables automation, personalization, real-time tracking, logistics coordination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Walmart, Amazon; Local: Apex, bKash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Arrows: IS ensures consistency, scalability, efficiency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become strategic assets, not routine tasks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Collaboration Systems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97280"/>
            <a:ext cx="4297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tools for modern organizations</a:t>
            </a:r>
            <a:endParaRPr lang="en-US" sz="1200" dirty="0"/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 suppliers, customers work together regardless of location</a:t>
            </a:r>
            <a:endParaRPr lang="en-US" sz="1200" dirty="0"/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for communication, file sharing, project management</a:t>
            </a:r>
            <a:endParaRPr lang="en-US" sz="1200" dirty="0"/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down barriers of distance and time</a:t>
            </a:r>
            <a:endParaRPr lang="en-US" sz="1200" dirty="0"/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communication, document sharing, joint problem-solving</a:t>
            </a:r>
            <a:endParaRPr lang="en-US" sz="1200" dirty="0"/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workflows foster teamwork and innovation</a:t>
            </a:r>
            <a:endParaRPr lang="en-US" sz="1200" dirty="0"/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Teams: chat, video, file sharing hub</a:t>
            </a:r>
            <a:endParaRPr lang="en-US" sz="1200" dirty="0"/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Slack: streamlined channels, less email overload</a:t>
            </a:r>
            <a:endParaRPr lang="en-US" sz="1200" dirty="0"/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Zoom: instant global virtual meetings</a:t>
            </a:r>
            <a:endParaRPr lang="en-US" sz="1200" dirty="0"/>
          </a:p>
          <a:p>
            <a:pPr marL="171450" indent="-171450"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in different countries collaborate as if in one office</a:t>
            </a:r>
            <a:endParaRPr lang="en-US" sz="1200" dirty="0"/>
          </a:p>
        </p:txBody>
      </p:sp>
      <p:pic>
        <p:nvPicPr>
          <p:cNvPr id="5" name="Image 0" descr="img-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8776" y="1097280"/>
            <a:ext cx="3535568" cy="356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Systems: Bangladesh and Benefits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21280" cy="2926080"/>
          </a:xfrm>
          <a:prstGeom prst="roundRect">
            <a:avLst>
              <a:gd name="adj" fmla="val 348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Grameenphone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234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nationwide telecom operations</a:t>
            </a:r>
            <a:endParaRPr lang="en-US" sz="125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communication: technical and customer service teams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61360" y="1188720"/>
            <a:ext cx="2621280" cy="2926080"/>
          </a:xfrm>
          <a:prstGeom prst="roundRect">
            <a:avLst>
              <a:gd name="adj" fmla="val 348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98520" y="129844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 Bank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98520" y="1737360"/>
            <a:ext cx="234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dashboards and collaboration platforms</a:t>
            </a:r>
            <a:endParaRPr lang="en-US" sz="125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financial services teams</a:t>
            </a:r>
            <a:endParaRPr lang="en-US" sz="125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decisions, better customer support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065520" y="1188720"/>
            <a:ext cx="2621280" cy="2926080"/>
          </a:xfrm>
          <a:prstGeom prst="roundRect">
            <a:avLst>
              <a:gd name="adj" fmla="val 3488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02680" y="1298448"/>
            <a:ext cx="234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02680" y="1737360"/>
            <a:ext cx="234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less duplicated effort</a:t>
            </a:r>
            <a:endParaRPr lang="en-US" sz="125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instant idea sharing</a:t>
            </a:r>
            <a:endParaRPr lang="en-US" sz="125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Flexibility: seamless remote and cross-border work</a:t>
            </a:r>
            <a:endParaRPr lang="en-US" sz="125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Transparency: accountability, task visibility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delay, better coordination, real-time knowledge sharing.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 Systems: Figure Summary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Center: Collaboration Systems, linking employees, suppliers, customers, innovation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Teams, Slack, Zoom enable communication and coordination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Amazon, Dell, Google, Microsoft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Bangladesh: Grameenphone, Apex, bKash, BRAC Bank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 efficiency, transparency, creativity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enablers of innovation and competitiveness, not just communication tools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E-Business Applications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199" y="1188720"/>
            <a:ext cx="4212653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of digital enterprises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and optimize core business functions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firms operate efficiently, innovate, collaborate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global and local contexts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types: enterprise systems, SCM, CRM, KMS</a:t>
            </a:r>
            <a:endParaRPr lang="en-US" sz="1500" dirty="0"/>
          </a:p>
        </p:txBody>
      </p:sp>
      <p:pic>
        <p:nvPicPr>
          <p:cNvPr id="5" name="Image 0" descr="img-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9853" y="1613276"/>
            <a:ext cx="4394633" cy="28998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Systems and SCM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548393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Systems (ERP)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finance, HR, </a:t>
            </a:r>
            <a:r>
              <a:rPr lang="en-US" sz="1300" dirty="0" smtClean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operations into </a:t>
            </a: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data silos, smooth information flow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</a:t>
            </a:r>
            <a:r>
              <a:rPr lang="en-US" sz="1300" dirty="0" smtClean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and </a:t>
            </a: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manage payroll, accounting, </a:t>
            </a:r>
            <a:r>
              <a:rPr lang="en-US" sz="1300" dirty="0" smtClean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supply </a:t>
            </a: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across countries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BD: Square Pharmaceuticals integrates production, </a:t>
            </a:r>
            <a:r>
              <a:rPr lang="en-US" sz="1300" dirty="0" smtClean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and  </a:t>
            </a: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548393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Management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logistics and supplier relations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inventory, forecast demand, coordinate suppliers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Dell integrates suppliers into production, cutting delays and costs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BD: Apex Footwear manages raw materials, schedules, distribution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and Knowledge Management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Systems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interactions, improve satisfaction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data, tailor services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Amazon recommendations based on behavior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BD: bKash manages relationships, tracks mobile transactions, personalizes services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Management (KMS)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knowledge across the organization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best practices, training, institutional knowledge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Google Workspace, SharePoint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BD: BRAC Bank trains staff, shares compliance updates, keeps branch service consistent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E-Business Applications: Figure Summary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Center: E-Business Applications, four pillars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systems, SCM, CRM, KMS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SAP, Dell, Amazon, Google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Bangladesh: Square Pharma, Apex, bKash, BRAC Bank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operate efficiently, innovate continuously, collaborate effectively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to multinationals and local enterprises</a:t>
            </a:r>
            <a:endParaRPr lang="en-US" sz="17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Collaboration and Social Business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297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beyond traditional communication tools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networking features built into business processes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transparency, responsiveness, innovation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collaboration tools with social networking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Teams, Slack, Zoom: community-driven interaction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 suppliers, customers share ideas, feedback, knowledge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silos, builds a culture of participation</a:t>
            </a:r>
            <a:endParaRPr lang="en-US" sz="1300" dirty="0"/>
          </a:p>
        </p:txBody>
      </p:sp>
      <p:pic>
        <p:nvPicPr>
          <p:cNvPr id="5" name="Image 0" descr="img-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8509" y="1097280"/>
            <a:ext cx="3727543" cy="356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Business: Examples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558332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Chatter: social networking in CRM for sales and service</a:t>
            </a:r>
            <a:endParaRPr lang="en-US" sz="125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Yammer (Microsoft): internal social network for updates, ideas, documents</a:t>
            </a:r>
            <a:endParaRPr lang="en-US" sz="125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Connections: social networking, knowledge sharing, project collaboration</a:t>
            </a:r>
            <a:endParaRPr lang="en-US" sz="125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communities inside organizations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558332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Pathao: connects drivers and customers, feedback, coordination, loyalty</a:t>
            </a:r>
            <a:endParaRPr lang="en-US" sz="125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bKash: social features in app, shared experiences, personalized support</a:t>
            </a:r>
            <a:endParaRPr lang="en-US" sz="125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Grameenphone: engages employees and customers, knowledge sharing, innovation</a:t>
            </a:r>
            <a:endParaRPr lang="en-US" sz="125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relationships, community around services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and Figure Summary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558332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Transparency: visible, accountable processes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Responsiveness: real-time feedback, agility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 diverse voices, creativity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Engagement: connected employees and customers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4023360" cy="2558332"/>
          </a:xfrm>
          <a:prstGeom prst="roundRect">
            <a:avLst>
              <a:gd name="adj" fmla="val 270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2984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Summary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3736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Center: Collaboration and Social Business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employees, suppliers, customers, communities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Salesforce Chatter, Yammer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BD: Pathao, bKash, Grameenphone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Arrows: two-way communication, not top-down</a:t>
            </a:r>
            <a:endParaRPr lang="en-US" sz="1300" dirty="0"/>
          </a:p>
          <a:p>
            <a:pPr marL="285750" indent="-28575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business builds communities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41248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Laudon &amp; Laudon. Management Information Systems: Managing the Digital Firm (Pearson)</a:t>
            </a:r>
            <a:endParaRPr lang="en-US" sz="1400" dirty="0"/>
          </a:p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Turban &amp; Volonino. Information Technology for Management</a:t>
            </a:r>
            <a:endParaRPr lang="en-US" sz="1400" dirty="0"/>
          </a:p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O'Brien &amp; Marakas. Introduction to Information Systems</a:t>
            </a:r>
            <a:endParaRPr lang="en-US" sz="1400" dirty="0"/>
          </a:p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 &amp; Reynolds. Principles of Information Systems</a:t>
            </a:r>
            <a:endParaRPr lang="en-US" sz="1400" dirty="0"/>
          </a:p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O'Brien &amp; Marakas. Management Information Systems, McGraw-Hill/Irwin, 10th Ed., 2011</a:t>
            </a:r>
            <a:endParaRPr lang="en-US" sz="1400" dirty="0"/>
          </a:p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Pearlson &amp; Saunders. Strategic Management of Information Systems, Wiley, 5th Ed., 2013</a:t>
            </a:r>
            <a:endParaRPr lang="en-US" sz="1400" dirty="0"/>
          </a:p>
          <a:p>
            <a:pPr marL="285750" indent="-28575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&amp; Peppard. Strategic Planning for Information Systems, Wiley, 3rd Ed., 2013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1465</Words>
  <Application>Microsoft Office PowerPoint</Application>
  <PresentationFormat>On-screen Show (16:9)</PresentationFormat>
  <Paragraphs>251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Uttam Kumar Dey</cp:lastModifiedBy>
  <cp:revision>10</cp:revision>
  <dcterms:created xsi:type="dcterms:W3CDTF">2026-10-01T08:07:39Z</dcterms:created>
  <dcterms:modified xsi:type="dcterms:W3CDTF">2026-10-02T02:56:01Z</dcterms:modified>
</cp:coreProperties>
</file>