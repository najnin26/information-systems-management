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57" r:id="rId3"/>
    <p:sldId id="258" r:id="rId4"/>
    <p:sldId id="261" r:id="rId5"/>
    <p:sldId id="259" r:id="rId6"/>
    <p:sldId id="260" r:id="rId7"/>
    <p:sldId id="265" r:id="rId8"/>
    <p:sldId id="262" r:id="rId9"/>
    <p:sldId id="263" r:id="rId10"/>
    <p:sldId id="264" r:id="rId11"/>
    <p:sldId id="266" r:id="rId12"/>
    <p:sldId id="267" r:id="rId13"/>
    <p:sldId id="268" r:id="rId14"/>
    <p:sldId id="269" r:id="rId15"/>
    <p:sldId id="270" r:id="rId16"/>
    <p:sldId id="271" r:id="rId17"/>
    <p:sldId id="272" r:id="rId18"/>
    <p:sldId id="273" r:id="rId19"/>
    <p:sldId id="276" r:id="rId20"/>
    <p:sldId id="278" r:id="rId21"/>
    <p:sldId id="274" r:id="rId22"/>
    <p:sldId id="279" r:id="rId23"/>
    <p:sldId id="280" r:id="rId24"/>
    <p:sldId id="281" r:id="rId25"/>
    <p:sldId id="283" r:id="rId26"/>
    <p:sldId id="284" r:id="rId27"/>
    <p:sldId id="285" r:id="rId28"/>
    <p:sldId id="286" r:id="rId29"/>
    <p:sldId id="287"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E6028F6-9317-4330-8748-F18C81560EBA}" type="doc">
      <dgm:prSet loTypeId="urn:microsoft.com/office/officeart/2008/layout/AlternatingHexagons" loCatId="list" qsTypeId="urn:microsoft.com/office/officeart/2005/8/quickstyle/simple1" qsCatId="simple" csTypeId="urn:microsoft.com/office/officeart/2005/8/colors/accent1_2" csCatId="accent1" phldr="1"/>
      <dgm:spPr/>
      <dgm:t>
        <a:bodyPr/>
        <a:lstStyle/>
        <a:p>
          <a:endParaRPr lang="en-US"/>
        </a:p>
      </dgm:t>
    </dgm:pt>
    <dgm:pt modelId="{30031926-A910-48F7-9917-DD13E6E8C114}">
      <dgm:prSet phldrT="[Text]"/>
      <dgm:spPr>
        <a:solidFill>
          <a:schemeClr val="accent2">
            <a:lumMod val="60000"/>
            <a:lumOff val="40000"/>
          </a:schemeClr>
        </a:solidFill>
      </dgm:spPr>
      <dgm:t>
        <a:bodyPr/>
        <a:lstStyle/>
        <a:p>
          <a:r>
            <a:rPr lang="en-US" dirty="0" smtClean="0">
              <a:solidFill>
                <a:schemeClr val="tx1"/>
              </a:solidFill>
            </a:rPr>
            <a:t>Procedure</a:t>
          </a:r>
          <a:endParaRPr lang="en-US" dirty="0">
            <a:solidFill>
              <a:schemeClr val="tx1"/>
            </a:solidFill>
          </a:endParaRPr>
        </a:p>
      </dgm:t>
    </dgm:pt>
    <dgm:pt modelId="{290EF405-905B-4558-B464-3B6AFDCE304B}" type="parTrans" cxnId="{A10EB6A4-4E10-4984-959A-0C1438BD1909}">
      <dgm:prSet/>
      <dgm:spPr/>
      <dgm:t>
        <a:bodyPr/>
        <a:lstStyle/>
        <a:p>
          <a:endParaRPr lang="en-US"/>
        </a:p>
      </dgm:t>
    </dgm:pt>
    <dgm:pt modelId="{AEE9FE3C-9B89-486D-9D67-C208F2664A7F}" type="sibTrans" cxnId="{A10EB6A4-4E10-4984-959A-0C1438BD1909}">
      <dgm:prSet/>
      <dgm:spPr>
        <a:solidFill>
          <a:schemeClr val="accent2">
            <a:lumMod val="60000"/>
            <a:lumOff val="40000"/>
          </a:schemeClr>
        </a:solidFill>
      </dgm:spPr>
      <dgm:t>
        <a:bodyPr/>
        <a:lstStyle/>
        <a:p>
          <a:endParaRPr lang="en-US" dirty="0"/>
        </a:p>
      </dgm:t>
    </dgm:pt>
    <dgm:pt modelId="{5CA1F7E2-6BE3-4748-98C5-A44B36C7995D}">
      <dgm:prSet phldrT="[Text]"/>
      <dgm:spPr>
        <a:solidFill>
          <a:schemeClr val="accent2">
            <a:lumMod val="75000"/>
          </a:schemeClr>
        </a:solidFill>
      </dgm:spPr>
      <dgm:t>
        <a:bodyPr/>
        <a:lstStyle/>
        <a:p>
          <a:r>
            <a:rPr lang="en-US" dirty="0" smtClean="0"/>
            <a:t>MIS</a:t>
          </a:r>
          <a:endParaRPr lang="en-US" dirty="0"/>
        </a:p>
      </dgm:t>
    </dgm:pt>
    <dgm:pt modelId="{A49530B3-2EC1-4A02-A8AC-0CB9BE6580DA}" type="parTrans" cxnId="{EDF0A867-72D7-42B1-A24A-75C9205758E3}">
      <dgm:prSet/>
      <dgm:spPr/>
      <dgm:t>
        <a:bodyPr/>
        <a:lstStyle/>
        <a:p>
          <a:endParaRPr lang="en-US"/>
        </a:p>
      </dgm:t>
    </dgm:pt>
    <dgm:pt modelId="{13A7CA87-AD60-4179-B1D5-93D01FD95E41}" type="sibTrans" cxnId="{EDF0A867-72D7-42B1-A24A-75C9205758E3}">
      <dgm:prSet custT="1"/>
      <dgm:spPr>
        <a:solidFill>
          <a:schemeClr val="accent2">
            <a:lumMod val="60000"/>
            <a:lumOff val="40000"/>
          </a:schemeClr>
        </a:solidFill>
      </dgm:spPr>
      <dgm:t>
        <a:bodyPr/>
        <a:lstStyle/>
        <a:p>
          <a:r>
            <a:rPr lang="en-US" sz="2400" dirty="0" smtClean="0">
              <a:solidFill>
                <a:schemeClr val="tx1"/>
              </a:solidFill>
            </a:rPr>
            <a:t>Machine</a:t>
          </a:r>
          <a:endParaRPr lang="en-US" sz="2400" dirty="0">
            <a:solidFill>
              <a:schemeClr val="tx1"/>
            </a:solidFill>
          </a:endParaRPr>
        </a:p>
      </dgm:t>
    </dgm:pt>
    <dgm:pt modelId="{F7C6403E-2D07-4018-88E7-6005855FFE58}">
      <dgm:prSet phldrT="[Text]"/>
      <dgm:spPr/>
      <dgm:t>
        <a:bodyPr/>
        <a:lstStyle/>
        <a:p>
          <a:r>
            <a:rPr lang="en-US" dirty="0" smtClean="0"/>
            <a:t>People</a:t>
          </a:r>
          <a:endParaRPr lang="en-US" dirty="0"/>
        </a:p>
      </dgm:t>
    </dgm:pt>
    <dgm:pt modelId="{99A4B7B8-DEEF-4AB4-A1F7-794541660EC8}" type="parTrans" cxnId="{06F41A18-676B-41F2-9EA0-BFA297CF3CF3}">
      <dgm:prSet/>
      <dgm:spPr/>
      <dgm:t>
        <a:bodyPr/>
        <a:lstStyle/>
        <a:p>
          <a:endParaRPr lang="en-US"/>
        </a:p>
      </dgm:t>
    </dgm:pt>
    <dgm:pt modelId="{F6DD99CF-9B67-414D-87CB-6B0925C44574}" type="sibTrans" cxnId="{06F41A18-676B-41F2-9EA0-BFA297CF3CF3}">
      <dgm:prSet/>
      <dgm:spPr/>
      <dgm:t>
        <a:bodyPr/>
        <a:lstStyle/>
        <a:p>
          <a:endParaRPr lang="en-US"/>
        </a:p>
      </dgm:t>
    </dgm:pt>
    <dgm:pt modelId="{74B2B1C9-223A-4CBD-A42C-92F01DF48818}">
      <dgm:prSet phldrT="[Text]"/>
      <dgm:spPr>
        <a:solidFill>
          <a:schemeClr val="accent2">
            <a:lumMod val="60000"/>
            <a:lumOff val="40000"/>
          </a:schemeClr>
        </a:solidFill>
      </dgm:spPr>
      <dgm:t>
        <a:bodyPr/>
        <a:lstStyle/>
        <a:p>
          <a:r>
            <a:rPr lang="en-US" dirty="0" smtClean="0">
              <a:solidFill>
                <a:schemeClr val="tx1"/>
              </a:solidFill>
            </a:rPr>
            <a:t>Data Models</a:t>
          </a:r>
          <a:endParaRPr lang="en-US" dirty="0">
            <a:solidFill>
              <a:schemeClr val="tx1"/>
            </a:solidFill>
          </a:endParaRPr>
        </a:p>
      </dgm:t>
    </dgm:pt>
    <dgm:pt modelId="{4D459C70-74C6-42F7-84A9-48A81CD5FA5D}" type="parTrans" cxnId="{810642E6-B993-4738-83D2-FAE1FB39BB40}">
      <dgm:prSet/>
      <dgm:spPr/>
      <dgm:t>
        <a:bodyPr/>
        <a:lstStyle/>
        <a:p>
          <a:endParaRPr lang="en-US"/>
        </a:p>
      </dgm:t>
    </dgm:pt>
    <dgm:pt modelId="{AA79081E-EEC9-4161-9F5C-D0062B2E0FA6}" type="sibTrans" cxnId="{810642E6-B993-4738-83D2-FAE1FB39BB40}">
      <dgm:prSet/>
      <dgm:spPr>
        <a:solidFill>
          <a:schemeClr val="accent2">
            <a:lumMod val="60000"/>
            <a:lumOff val="40000"/>
          </a:schemeClr>
        </a:solidFill>
      </dgm:spPr>
      <dgm:t>
        <a:bodyPr/>
        <a:lstStyle/>
        <a:p>
          <a:r>
            <a:rPr lang="en-US" dirty="0" smtClean="0">
              <a:solidFill>
                <a:schemeClr val="tx1"/>
              </a:solidFill>
            </a:rPr>
            <a:t>Databases</a:t>
          </a:r>
          <a:endParaRPr lang="en-US" dirty="0">
            <a:solidFill>
              <a:schemeClr val="tx1"/>
            </a:solidFill>
          </a:endParaRPr>
        </a:p>
      </dgm:t>
    </dgm:pt>
    <dgm:pt modelId="{B9040967-2084-42CA-8764-460AA93B51E3}" type="pres">
      <dgm:prSet presAssocID="{DE6028F6-9317-4330-8748-F18C81560EBA}" presName="Name0" presStyleCnt="0">
        <dgm:presLayoutVars>
          <dgm:chMax/>
          <dgm:chPref/>
          <dgm:dir/>
          <dgm:animLvl val="lvl"/>
        </dgm:presLayoutVars>
      </dgm:prSet>
      <dgm:spPr/>
      <dgm:t>
        <a:bodyPr/>
        <a:lstStyle/>
        <a:p>
          <a:endParaRPr lang="en-US"/>
        </a:p>
      </dgm:t>
    </dgm:pt>
    <dgm:pt modelId="{D8D3421D-8454-42F9-965E-E7ADFE3DB2F7}" type="pres">
      <dgm:prSet presAssocID="{30031926-A910-48F7-9917-DD13E6E8C114}" presName="composite" presStyleCnt="0"/>
      <dgm:spPr/>
    </dgm:pt>
    <dgm:pt modelId="{9731DCA6-AD31-4477-A54F-E0359265682F}" type="pres">
      <dgm:prSet presAssocID="{30031926-A910-48F7-9917-DD13E6E8C114}" presName="Parent1" presStyleLbl="node1" presStyleIdx="0" presStyleCnt="6" custScaleX="129842" custScaleY="79572" custLinFactNeighborX="-52887" custLinFactNeighborY="-18338">
        <dgm:presLayoutVars>
          <dgm:chMax val="1"/>
          <dgm:chPref val="1"/>
          <dgm:bulletEnabled val="1"/>
        </dgm:presLayoutVars>
      </dgm:prSet>
      <dgm:spPr/>
      <dgm:t>
        <a:bodyPr/>
        <a:lstStyle/>
        <a:p>
          <a:endParaRPr lang="en-US"/>
        </a:p>
      </dgm:t>
    </dgm:pt>
    <dgm:pt modelId="{E73E9D8F-BF2D-42CA-8181-B4FF2BD1AA0E}" type="pres">
      <dgm:prSet presAssocID="{30031926-A910-48F7-9917-DD13E6E8C114}" presName="Childtext1" presStyleLbl="revTx" presStyleIdx="0" presStyleCnt="3">
        <dgm:presLayoutVars>
          <dgm:chMax val="0"/>
          <dgm:chPref val="0"/>
          <dgm:bulletEnabled val="1"/>
        </dgm:presLayoutVars>
      </dgm:prSet>
      <dgm:spPr/>
      <dgm:t>
        <a:bodyPr/>
        <a:lstStyle/>
        <a:p>
          <a:endParaRPr lang="en-US"/>
        </a:p>
      </dgm:t>
    </dgm:pt>
    <dgm:pt modelId="{CA1459F8-5EED-4D4F-B853-D6A651BBB8F5}" type="pres">
      <dgm:prSet presAssocID="{30031926-A910-48F7-9917-DD13E6E8C114}" presName="BalanceSpacing" presStyleCnt="0"/>
      <dgm:spPr/>
    </dgm:pt>
    <dgm:pt modelId="{25F95448-E711-4CE0-B512-D007E8E6C7F0}" type="pres">
      <dgm:prSet presAssocID="{30031926-A910-48F7-9917-DD13E6E8C114}" presName="BalanceSpacing1" presStyleCnt="0"/>
      <dgm:spPr/>
    </dgm:pt>
    <dgm:pt modelId="{C3B76617-6C28-4908-BD9A-4FEEA8651698}" type="pres">
      <dgm:prSet presAssocID="{AEE9FE3C-9B89-486D-9D67-C208F2664A7F}" presName="Accent1Text" presStyleLbl="node1" presStyleIdx="1" presStyleCnt="6" custScaleX="115695" custScaleY="90605" custLinFactX="-9777" custLinFactNeighborX="-100000" custLinFactNeighborY="39905"/>
      <dgm:spPr/>
      <dgm:t>
        <a:bodyPr/>
        <a:lstStyle/>
        <a:p>
          <a:endParaRPr lang="en-US"/>
        </a:p>
      </dgm:t>
    </dgm:pt>
    <dgm:pt modelId="{E256C045-997A-425E-A267-EDE71B4C51A4}" type="pres">
      <dgm:prSet presAssocID="{AEE9FE3C-9B89-486D-9D67-C208F2664A7F}" presName="spaceBetweenRectangles" presStyleCnt="0"/>
      <dgm:spPr/>
    </dgm:pt>
    <dgm:pt modelId="{C555429E-C2FC-4DB7-B606-C453AD2A7F5E}" type="pres">
      <dgm:prSet presAssocID="{5CA1F7E2-6BE3-4748-98C5-A44B36C7995D}" presName="composite" presStyleCnt="0"/>
      <dgm:spPr/>
    </dgm:pt>
    <dgm:pt modelId="{808D6D2F-93B6-47E8-8684-6009E5055028}" type="pres">
      <dgm:prSet presAssocID="{5CA1F7E2-6BE3-4748-98C5-A44B36C7995D}" presName="Parent1" presStyleLbl="node1" presStyleIdx="2" presStyleCnt="6" custLinFactNeighborX="409" custLinFactNeighborY="31432">
        <dgm:presLayoutVars>
          <dgm:chMax val="1"/>
          <dgm:chPref val="1"/>
          <dgm:bulletEnabled val="1"/>
        </dgm:presLayoutVars>
      </dgm:prSet>
      <dgm:spPr/>
      <dgm:t>
        <a:bodyPr/>
        <a:lstStyle/>
        <a:p>
          <a:endParaRPr lang="en-US"/>
        </a:p>
      </dgm:t>
    </dgm:pt>
    <dgm:pt modelId="{89557BA7-B064-4578-9D12-2B0FB035174B}" type="pres">
      <dgm:prSet presAssocID="{5CA1F7E2-6BE3-4748-98C5-A44B36C7995D}" presName="Childtext1" presStyleLbl="revTx" presStyleIdx="1" presStyleCnt="3" custLinFactNeighborX="-69141" custLinFactNeighborY="-89142">
        <dgm:presLayoutVars>
          <dgm:chMax val="0"/>
          <dgm:chPref val="0"/>
          <dgm:bulletEnabled val="1"/>
        </dgm:presLayoutVars>
      </dgm:prSet>
      <dgm:spPr/>
      <dgm:t>
        <a:bodyPr/>
        <a:lstStyle/>
        <a:p>
          <a:endParaRPr lang="en-US"/>
        </a:p>
      </dgm:t>
    </dgm:pt>
    <dgm:pt modelId="{4AA9568F-DAC6-46CE-A5DA-C1C1F87028B5}" type="pres">
      <dgm:prSet presAssocID="{5CA1F7E2-6BE3-4748-98C5-A44B36C7995D}" presName="BalanceSpacing" presStyleCnt="0"/>
      <dgm:spPr/>
    </dgm:pt>
    <dgm:pt modelId="{A5ECD447-159F-4914-A55E-9AFBDE40503F}" type="pres">
      <dgm:prSet presAssocID="{5CA1F7E2-6BE3-4748-98C5-A44B36C7995D}" presName="BalanceSpacing1" presStyleCnt="0"/>
      <dgm:spPr/>
    </dgm:pt>
    <dgm:pt modelId="{589A1388-3AD4-47A4-A5DD-218E6C16B37F}" type="pres">
      <dgm:prSet presAssocID="{13A7CA87-AD60-4179-B1D5-93D01FD95E41}" presName="Accent1Text" presStyleLbl="node1" presStyleIdx="3" presStyleCnt="6" custScaleX="112494" custScaleY="76955" custLinFactNeighborX="61067" custLinFactNeighborY="-5001"/>
      <dgm:spPr/>
      <dgm:t>
        <a:bodyPr/>
        <a:lstStyle/>
        <a:p>
          <a:endParaRPr lang="en-US"/>
        </a:p>
      </dgm:t>
    </dgm:pt>
    <dgm:pt modelId="{C5FBD2B8-E92A-4F73-8F0F-DC59A28DA2FB}" type="pres">
      <dgm:prSet presAssocID="{13A7CA87-AD60-4179-B1D5-93D01FD95E41}" presName="spaceBetweenRectangles" presStyleCnt="0"/>
      <dgm:spPr/>
    </dgm:pt>
    <dgm:pt modelId="{B1C764C2-E409-4928-8AB1-791B144C5AB4}" type="pres">
      <dgm:prSet presAssocID="{74B2B1C9-223A-4CBD-A42C-92F01DF48818}" presName="composite" presStyleCnt="0"/>
      <dgm:spPr/>
    </dgm:pt>
    <dgm:pt modelId="{BDF6B30C-DE18-4D16-A2DF-F406C1A8E5AA}" type="pres">
      <dgm:prSet presAssocID="{74B2B1C9-223A-4CBD-A42C-92F01DF48818}" presName="Parent1" presStyleLbl="node1" presStyleIdx="4" presStyleCnt="6" custScaleX="120705" custScaleY="79145" custLinFactNeighborX="96233" custLinFactNeighborY="15598">
        <dgm:presLayoutVars>
          <dgm:chMax val="1"/>
          <dgm:chPref val="1"/>
          <dgm:bulletEnabled val="1"/>
        </dgm:presLayoutVars>
      </dgm:prSet>
      <dgm:spPr/>
      <dgm:t>
        <a:bodyPr/>
        <a:lstStyle/>
        <a:p>
          <a:endParaRPr lang="en-US"/>
        </a:p>
      </dgm:t>
    </dgm:pt>
    <dgm:pt modelId="{AF16873A-15AF-49F4-8309-E2F84C72F589}" type="pres">
      <dgm:prSet presAssocID="{74B2B1C9-223A-4CBD-A42C-92F01DF48818}" presName="Childtext1" presStyleLbl="revTx" presStyleIdx="2" presStyleCnt="3" custLinFactNeighborX="-42814" custLinFactNeighborY="3675">
        <dgm:presLayoutVars>
          <dgm:chMax val="0"/>
          <dgm:chPref val="0"/>
          <dgm:bulletEnabled val="1"/>
        </dgm:presLayoutVars>
      </dgm:prSet>
      <dgm:spPr/>
      <dgm:t>
        <a:bodyPr/>
        <a:lstStyle/>
        <a:p>
          <a:endParaRPr lang="en-US"/>
        </a:p>
      </dgm:t>
    </dgm:pt>
    <dgm:pt modelId="{855C1D03-D630-4603-A243-62928369B4A8}" type="pres">
      <dgm:prSet presAssocID="{74B2B1C9-223A-4CBD-A42C-92F01DF48818}" presName="BalanceSpacing" presStyleCnt="0"/>
      <dgm:spPr/>
    </dgm:pt>
    <dgm:pt modelId="{868FBF1E-0222-41BA-AF62-86A74B339534}" type="pres">
      <dgm:prSet presAssocID="{74B2B1C9-223A-4CBD-A42C-92F01DF48818}" presName="BalanceSpacing1" presStyleCnt="0"/>
      <dgm:spPr/>
    </dgm:pt>
    <dgm:pt modelId="{837728AD-08D1-4020-BFF6-2BB16F300E7D}" type="pres">
      <dgm:prSet presAssocID="{AA79081E-EEC9-4161-9F5C-D0062B2E0FA6}" presName="Accent1Text" presStyleLbl="node1" presStyleIdx="5" presStyleCnt="6" custLinFactNeighborX="-80335" custLinFactNeighborY="-3289"/>
      <dgm:spPr/>
      <dgm:t>
        <a:bodyPr/>
        <a:lstStyle/>
        <a:p>
          <a:endParaRPr lang="en-US"/>
        </a:p>
      </dgm:t>
    </dgm:pt>
  </dgm:ptLst>
  <dgm:cxnLst>
    <dgm:cxn modelId="{45CA3F87-AD39-4502-A38E-56416F28D9A3}" type="presOf" srcId="{F7C6403E-2D07-4018-88E7-6005855FFE58}" destId="{89557BA7-B064-4578-9D12-2B0FB035174B}" srcOrd="0" destOrd="0" presId="urn:microsoft.com/office/officeart/2008/layout/AlternatingHexagons"/>
    <dgm:cxn modelId="{B03B5BA1-1CED-4EDC-8CE6-0D4E562BCDCC}" type="presOf" srcId="{5CA1F7E2-6BE3-4748-98C5-A44B36C7995D}" destId="{808D6D2F-93B6-47E8-8684-6009E5055028}" srcOrd="0" destOrd="0" presId="urn:microsoft.com/office/officeart/2008/layout/AlternatingHexagons"/>
    <dgm:cxn modelId="{C436EFD1-96A6-4A07-8F61-FED2C3CFFA6F}" type="presOf" srcId="{DE6028F6-9317-4330-8748-F18C81560EBA}" destId="{B9040967-2084-42CA-8764-460AA93B51E3}" srcOrd="0" destOrd="0" presId="urn:microsoft.com/office/officeart/2008/layout/AlternatingHexagons"/>
    <dgm:cxn modelId="{A10EB6A4-4E10-4984-959A-0C1438BD1909}" srcId="{DE6028F6-9317-4330-8748-F18C81560EBA}" destId="{30031926-A910-48F7-9917-DD13E6E8C114}" srcOrd="0" destOrd="0" parTransId="{290EF405-905B-4558-B464-3B6AFDCE304B}" sibTransId="{AEE9FE3C-9B89-486D-9D67-C208F2664A7F}"/>
    <dgm:cxn modelId="{83D86FB5-0B19-4E7B-A68B-7FA226C0BB55}" type="presOf" srcId="{AA79081E-EEC9-4161-9F5C-D0062B2E0FA6}" destId="{837728AD-08D1-4020-BFF6-2BB16F300E7D}" srcOrd="0" destOrd="0" presId="urn:microsoft.com/office/officeart/2008/layout/AlternatingHexagons"/>
    <dgm:cxn modelId="{EDF0A867-72D7-42B1-A24A-75C9205758E3}" srcId="{DE6028F6-9317-4330-8748-F18C81560EBA}" destId="{5CA1F7E2-6BE3-4748-98C5-A44B36C7995D}" srcOrd="1" destOrd="0" parTransId="{A49530B3-2EC1-4A02-A8AC-0CB9BE6580DA}" sibTransId="{13A7CA87-AD60-4179-B1D5-93D01FD95E41}"/>
    <dgm:cxn modelId="{B55F8F8F-F479-4D89-9AF4-5B64B3C7AF62}" type="presOf" srcId="{74B2B1C9-223A-4CBD-A42C-92F01DF48818}" destId="{BDF6B30C-DE18-4D16-A2DF-F406C1A8E5AA}" srcOrd="0" destOrd="0" presId="urn:microsoft.com/office/officeart/2008/layout/AlternatingHexagons"/>
    <dgm:cxn modelId="{810642E6-B993-4738-83D2-FAE1FB39BB40}" srcId="{DE6028F6-9317-4330-8748-F18C81560EBA}" destId="{74B2B1C9-223A-4CBD-A42C-92F01DF48818}" srcOrd="2" destOrd="0" parTransId="{4D459C70-74C6-42F7-84A9-48A81CD5FA5D}" sibTransId="{AA79081E-EEC9-4161-9F5C-D0062B2E0FA6}"/>
    <dgm:cxn modelId="{B42FF4E5-39AA-4927-921C-F978BD79AACF}" type="presOf" srcId="{13A7CA87-AD60-4179-B1D5-93D01FD95E41}" destId="{589A1388-3AD4-47A4-A5DD-218E6C16B37F}" srcOrd="0" destOrd="0" presId="urn:microsoft.com/office/officeart/2008/layout/AlternatingHexagons"/>
    <dgm:cxn modelId="{DB6BE361-4B67-4377-9B09-6E6FC7B2D7AB}" type="presOf" srcId="{AEE9FE3C-9B89-486D-9D67-C208F2664A7F}" destId="{C3B76617-6C28-4908-BD9A-4FEEA8651698}" srcOrd="0" destOrd="0" presId="urn:microsoft.com/office/officeart/2008/layout/AlternatingHexagons"/>
    <dgm:cxn modelId="{5F1E302C-56CE-4535-BCE8-D737EA19C17E}" type="presOf" srcId="{30031926-A910-48F7-9917-DD13E6E8C114}" destId="{9731DCA6-AD31-4477-A54F-E0359265682F}" srcOrd="0" destOrd="0" presId="urn:microsoft.com/office/officeart/2008/layout/AlternatingHexagons"/>
    <dgm:cxn modelId="{06F41A18-676B-41F2-9EA0-BFA297CF3CF3}" srcId="{5CA1F7E2-6BE3-4748-98C5-A44B36C7995D}" destId="{F7C6403E-2D07-4018-88E7-6005855FFE58}" srcOrd="0" destOrd="0" parTransId="{99A4B7B8-DEEF-4AB4-A1F7-794541660EC8}" sibTransId="{F6DD99CF-9B67-414D-87CB-6B0925C44574}"/>
    <dgm:cxn modelId="{93038CE7-7A7D-498F-B1B9-9EC24C700ED3}" type="presParOf" srcId="{B9040967-2084-42CA-8764-460AA93B51E3}" destId="{D8D3421D-8454-42F9-965E-E7ADFE3DB2F7}" srcOrd="0" destOrd="0" presId="urn:microsoft.com/office/officeart/2008/layout/AlternatingHexagons"/>
    <dgm:cxn modelId="{2EFBFA9A-8E8D-4838-8B24-0E4DD1D81723}" type="presParOf" srcId="{D8D3421D-8454-42F9-965E-E7ADFE3DB2F7}" destId="{9731DCA6-AD31-4477-A54F-E0359265682F}" srcOrd="0" destOrd="0" presId="urn:microsoft.com/office/officeart/2008/layout/AlternatingHexagons"/>
    <dgm:cxn modelId="{18B477B6-D310-4F63-8C91-44E00C702064}" type="presParOf" srcId="{D8D3421D-8454-42F9-965E-E7ADFE3DB2F7}" destId="{E73E9D8F-BF2D-42CA-8181-B4FF2BD1AA0E}" srcOrd="1" destOrd="0" presId="urn:microsoft.com/office/officeart/2008/layout/AlternatingHexagons"/>
    <dgm:cxn modelId="{B8180F37-6C59-4A87-B188-AB2EB919C43D}" type="presParOf" srcId="{D8D3421D-8454-42F9-965E-E7ADFE3DB2F7}" destId="{CA1459F8-5EED-4D4F-B853-D6A651BBB8F5}" srcOrd="2" destOrd="0" presId="urn:microsoft.com/office/officeart/2008/layout/AlternatingHexagons"/>
    <dgm:cxn modelId="{5251DD3E-88B7-4EAF-8FE1-EDB2F7883160}" type="presParOf" srcId="{D8D3421D-8454-42F9-965E-E7ADFE3DB2F7}" destId="{25F95448-E711-4CE0-B512-D007E8E6C7F0}" srcOrd="3" destOrd="0" presId="urn:microsoft.com/office/officeart/2008/layout/AlternatingHexagons"/>
    <dgm:cxn modelId="{00A0CEB5-88A9-4F11-BB82-6272B0CD529A}" type="presParOf" srcId="{D8D3421D-8454-42F9-965E-E7ADFE3DB2F7}" destId="{C3B76617-6C28-4908-BD9A-4FEEA8651698}" srcOrd="4" destOrd="0" presId="urn:microsoft.com/office/officeart/2008/layout/AlternatingHexagons"/>
    <dgm:cxn modelId="{A7CDA46E-AA33-4A25-96BF-74652EE9CA3E}" type="presParOf" srcId="{B9040967-2084-42CA-8764-460AA93B51E3}" destId="{E256C045-997A-425E-A267-EDE71B4C51A4}" srcOrd="1" destOrd="0" presId="urn:microsoft.com/office/officeart/2008/layout/AlternatingHexagons"/>
    <dgm:cxn modelId="{8344AB3D-8E47-4328-9D7D-E75A384C5CF6}" type="presParOf" srcId="{B9040967-2084-42CA-8764-460AA93B51E3}" destId="{C555429E-C2FC-4DB7-B606-C453AD2A7F5E}" srcOrd="2" destOrd="0" presId="urn:microsoft.com/office/officeart/2008/layout/AlternatingHexagons"/>
    <dgm:cxn modelId="{633BD48F-49BB-40BA-AB80-D0A334EDAB52}" type="presParOf" srcId="{C555429E-C2FC-4DB7-B606-C453AD2A7F5E}" destId="{808D6D2F-93B6-47E8-8684-6009E5055028}" srcOrd="0" destOrd="0" presId="urn:microsoft.com/office/officeart/2008/layout/AlternatingHexagons"/>
    <dgm:cxn modelId="{37959FFE-D6E0-4DFF-BDC3-F093EBBBAF36}" type="presParOf" srcId="{C555429E-C2FC-4DB7-B606-C453AD2A7F5E}" destId="{89557BA7-B064-4578-9D12-2B0FB035174B}" srcOrd="1" destOrd="0" presId="urn:microsoft.com/office/officeart/2008/layout/AlternatingHexagons"/>
    <dgm:cxn modelId="{CC2CC7EF-3EEA-4DA1-BCDB-9D72CE93771B}" type="presParOf" srcId="{C555429E-C2FC-4DB7-B606-C453AD2A7F5E}" destId="{4AA9568F-DAC6-46CE-A5DA-C1C1F87028B5}" srcOrd="2" destOrd="0" presId="urn:microsoft.com/office/officeart/2008/layout/AlternatingHexagons"/>
    <dgm:cxn modelId="{851562CB-D3A2-4050-986F-F93C29FA1A17}" type="presParOf" srcId="{C555429E-C2FC-4DB7-B606-C453AD2A7F5E}" destId="{A5ECD447-159F-4914-A55E-9AFBDE40503F}" srcOrd="3" destOrd="0" presId="urn:microsoft.com/office/officeart/2008/layout/AlternatingHexagons"/>
    <dgm:cxn modelId="{910F4CD8-A608-427A-BC85-6F9ED68582CC}" type="presParOf" srcId="{C555429E-C2FC-4DB7-B606-C453AD2A7F5E}" destId="{589A1388-3AD4-47A4-A5DD-218E6C16B37F}" srcOrd="4" destOrd="0" presId="urn:microsoft.com/office/officeart/2008/layout/AlternatingHexagons"/>
    <dgm:cxn modelId="{3B9C8F92-B03C-47BA-AAB2-346867A7869C}" type="presParOf" srcId="{B9040967-2084-42CA-8764-460AA93B51E3}" destId="{C5FBD2B8-E92A-4F73-8F0F-DC59A28DA2FB}" srcOrd="3" destOrd="0" presId="urn:microsoft.com/office/officeart/2008/layout/AlternatingHexagons"/>
    <dgm:cxn modelId="{7EDAA831-70CD-4501-ABA9-2BFCC96F3E00}" type="presParOf" srcId="{B9040967-2084-42CA-8764-460AA93B51E3}" destId="{B1C764C2-E409-4928-8AB1-791B144C5AB4}" srcOrd="4" destOrd="0" presId="urn:microsoft.com/office/officeart/2008/layout/AlternatingHexagons"/>
    <dgm:cxn modelId="{2B969D51-E3AC-4098-8CB3-B5EBC26E2AFB}" type="presParOf" srcId="{B1C764C2-E409-4928-8AB1-791B144C5AB4}" destId="{BDF6B30C-DE18-4D16-A2DF-F406C1A8E5AA}" srcOrd="0" destOrd="0" presId="urn:microsoft.com/office/officeart/2008/layout/AlternatingHexagons"/>
    <dgm:cxn modelId="{844BFD47-777C-4E02-8683-B3CEBD063A48}" type="presParOf" srcId="{B1C764C2-E409-4928-8AB1-791B144C5AB4}" destId="{AF16873A-15AF-49F4-8309-E2F84C72F589}" srcOrd="1" destOrd="0" presId="urn:microsoft.com/office/officeart/2008/layout/AlternatingHexagons"/>
    <dgm:cxn modelId="{CAC4DA7D-C5A0-4024-8587-8CA5183ADAAA}" type="presParOf" srcId="{B1C764C2-E409-4928-8AB1-791B144C5AB4}" destId="{855C1D03-D630-4603-A243-62928369B4A8}" srcOrd="2" destOrd="0" presId="urn:microsoft.com/office/officeart/2008/layout/AlternatingHexagons"/>
    <dgm:cxn modelId="{41A6F8C7-6DB9-4370-B286-16544DC4ED96}" type="presParOf" srcId="{B1C764C2-E409-4928-8AB1-791B144C5AB4}" destId="{868FBF1E-0222-41BA-AF62-86A74B339534}" srcOrd="3" destOrd="0" presId="urn:microsoft.com/office/officeart/2008/layout/AlternatingHexagons"/>
    <dgm:cxn modelId="{5E22FCD9-A12D-4441-8E4E-3C30F6995532}" type="presParOf" srcId="{B1C764C2-E409-4928-8AB1-791B144C5AB4}" destId="{837728AD-08D1-4020-BFF6-2BB16F300E7D}" srcOrd="4" destOrd="0" presId="urn:microsoft.com/office/officeart/2008/layout/AlternatingHexagon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31DCA6-AD31-4477-A54F-E0359265682F}">
      <dsp:nvSpPr>
        <dsp:cNvPr id="0" name=""/>
        <dsp:cNvSpPr/>
      </dsp:nvSpPr>
      <dsp:spPr>
        <a:xfrm rot="5400000">
          <a:off x="3876722" y="-362894"/>
          <a:ext cx="1729604" cy="2455393"/>
        </a:xfrm>
        <a:prstGeom prst="hexagon">
          <a:avLst>
            <a:gd name="adj" fmla="val 25000"/>
            <a:gd name="vf" fmla="val 115470"/>
          </a:avLst>
        </a:prstGeom>
        <a:solidFill>
          <a:schemeClr val="accent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en-US" sz="2600" kern="1200" dirty="0" smtClean="0">
              <a:solidFill>
                <a:schemeClr val="tx1"/>
              </a:solidFill>
            </a:rPr>
            <a:t>Procedure</a:t>
          </a:r>
          <a:endParaRPr lang="en-US" sz="2600" kern="1200" dirty="0">
            <a:solidFill>
              <a:schemeClr val="tx1"/>
            </a:solidFill>
          </a:endParaRPr>
        </a:p>
      </dsp:txBody>
      <dsp:txXfrm rot="-5400000">
        <a:off x="3923060" y="288267"/>
        <a:ext cx="1636929" cy="1153070"/>
      </dsp:txXfrm>
    </dsp:sp>
    <dsp:sp modelId="{E73E9D8F-BF2D-42CA-8181-B4FF2BD1AA0E}">
      <dsp:nvSpPr>
        <dsp:cNvPr id="0" name=""/>
        <dsp:cNvSpPr/>
      </dsp:nvSpPr>
      <dsp:spPr>
        <a:xfrm>
          <a:off x="6744566" y="436329"/>
          <a:ext cx="2425776" cy="1304180"/>
        </a:xfrm>
        <a:prstGeom prst="rect">
          <a:avLst/>
        </a:prstGeom>
        <a:noFill/>
        <a:ln>
          <a:noFill/>
        </a:ln>
        <a:effectLst/>
      </dsp:spPr>
      <dsp:style>
        <a:lnRef idx="0">
          <a:scrgbClr r="0" g="0" b="0"/>
        </a:lnRef>
        <a:fillRef idx="0">
          <a:scrgbClr r="0" g="0" b="0"/>
        </a:fillRef>
        <a:effectRef idx="0">
          <a:scrgbClr r="0" g="0" b="0"/>
        </a:effectRef>
        <a:fontRef idx="minor"/>
      </dsp:style>
    </dsp:sp>
    <dsp:sp modelId="{C3B76617-6C28-4908-BD9A-4FEEA8651698}">
      <dsp:nvSpPr>
        <dsp:cNvPr id="0" name=""/>
        <dsp:cNvSpPr/>
      </dsp:nvSpPr>
      <dsp:spPr>
        <a:xfrm rot="5400000">
          <a:off x="638641" y="861876"/>
          <a:ext cx="1969421" cy="2187864"/>
        </a:xfrm>
        <a:prstGeom prst="hexagon">
          <a:avLst>
            <a:gd name="adj" fmla="val 25000"/>
            <a:gd name="vf" fmla="val 115470"/>
          </a:avLst>
        </a:prstGeom>
        <a:solidFill>
          <a:schemeClr val="accent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600200">
            <a:lnSpc>
              <a:spcPct val="90000"/>
            </a:lnSpc>
            <a:spcBef>
              <a:spcPct val="0"/>
            </a:spcBef>
            <a:spcAft>
              <a:spcPct val="35000"/>
            </a:spcAft>
          </a:pPr>
          <a:endParaRPr lang="en-US" sz="3600" kern="1200" dirty="0"/>
        </a:p>
      </dsp:txBody>
      <dsp:txXfrm rot="-5400000">
        <a:off x="894064" y="1299334"/>
        <a:ext cx="1458576" cy="1312947"/>
      </dsp:txXfrm>
    </dsp:sp>
    <dsp:sp modelId="{808D6D2F-93B6-47E8-8684-6009E5055028}">
      <dsp:nvSpPr>
        <dsp:cNvPr id="0" name=""/>
        <dsp:cNvSpPr/>
      </dsp:nvSpPr>
      <dsp:spPr>
        <a:xfrm rot="5400000">
          <a:off x="3637482" y="2568980"/>
          <a:ext cx="2173634" cy="1891062"/>
        </a:xfrm>
        <a:prstGeom prst="hexagon">
          <a:avLst>
            <a:gd name="adj" fmla="val 25000"/>
            <a:gd name="vf" fmla="val 115470"/>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en-US" sz="2600" kern="1200" dirty="0" smtClean="0"/>
            <a:t>MIS</a:t>
          </a:r>
          <a:endParaRPr lang="en-US" sz="2600" kern="1200" dirty="0"/>
        </a:p>
      </dsp:txBody>
      <dsp:txXfrm rot="-5400000">
        <a:off x="4073459" y="2766419"/>
        <a:ext cx="1301680" cy="1496184"/>
      </dsp:txXfrm>
    </dsp:sp>
    <dsp:sp modelId="{89557BA7-B064-4578-9D12-2B0FB035174B}">
      <dsp:nvSpPr>
        <dsp:cNvPr id="0" name=""/>
        <dsp:cNvSpPr/>
      </dsp:nvSpPr>
      <dsp:spPr>
        <a:xfrm>
          <a:off x="0" y="1016631"/>
          <a:ext cx="2347525" cy="1304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ctr" anchorCtr="0">
          <a:noAutofit/>
        </a:bodyPr>
        <a:lstStyle/>
        <a:p>
          <a:pPr lvl="0" algn="r" defTabSz="1155700">
            <a:lnSpc>
              <a:spcPct val="90000"/>
            </a:lnSpc>
            <a:spcBef>
              <a:spcPct val="0"/>
            </a:spcBef>
            <a:spcAft>
              <a:spcPct val="35000"/>
            </a:spcAft>
          </a:pPr>
          <a:r>
            <a:rPr lang="en-US" sz="2600" kern="1200" dirty="0" smtClean="0"/>
            <a:t>People</a:t>
          </a:r>
          <a:endParaRPr lang="en-US" sz="2600" kern="1200" dirty="0"/>
        </a:p>
      </dsp:txBody>
      <dsp:txXfrm>
        <a:off x="0" y="1016631"/>
        <a:ext cx="2347525" cy="1304180"/>
      </dsp:txXfrm>
    </dsp:sp>
    <dsp:sp modelId="{589A1388-3AD4-47A4-A5DD-218E6C16B37F}">
      <dsp:nvSpPr>
        <dsp:cNvPr id="0" name=""/>
        <dsp:cNvSpPr/>
      </dsp:nvSpPr>
      <dsp:spPr>
        <a:xfrm rot="5400000">
          <a:off x="7077366" y="1658925"/>
          <a:ext cx="1672720" cy="2127331"/>
        </a:xfrm>
        <a:prstGeom prst="hexagon">
          <a:avLst>
            <a:gd name="adj" fmla="val 25000"/>
            <a:gd name="vf" fmla="val 115470"/>
          </a:avLst>
        </a:prstGeom>
        <a:solidFill>
          <a:schemeClr val="accent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066800">
            <a:lnSpc>
              <a:spcPct val="90000"/>
            </a:lnSpc>
            <a:spcBef>
              <a:spcPct val="0"/>
            </a:spcBef>
            <a:spcAft>
              <a:spcPct val="35000"/>
            </a:spcAft>
          </a:pPr>
          <a:r>
            <a:rPr lang="en-US" sz="2400" kern="1200" dirty="0" smtClean="0">
              <a:solidFill>
                <a:schemeClr val="tx1"/>
              </a:solidFill>
            </a:rPr>
            <a:t>Machine</a:t>
          </a:r>
          <a:endParaRPr lang="en-US" sz="2400" kern="1200" dirty="0">
            <a:solidFill>
              <a:schemeClr val="tx1"/>
            </a:solidFill>
          </a:endParaRPr>
        </a:p>
      </dsp:txBody>
      <dsp:txXfrm rot="-5400000">
        <a:off x="7204616" y="2165017"/>
        <a:ext cx="1418221" cy="1115146"/>
      </dsp:txXfrm>
    </dsp:sp>
    <dsp:sp modelId="{BDF6B30C-DE18-4D16-A2DF-F406C1A8E5AA}">
      <dsp:nvSpPr>
        <dsp:cNvPr id="0" name=""/>
        <dsp:cNvSpPr/>
      </dsp:nvSpPr>
      <dsp:spPr>
        <a:xfrm rot="5400000">
          <a:off x="6701315" y="3763231"/>
          <a:ext cx="1720323" cy="2282606"/>
        </a:xfrm>
        <a:prstGeom prst="hexagon">
          <a:avLst>
            <a:gd name="adj" fmla="val 25000"/>
            <a:gd name="vf" fmla="val 115470"/>
          </a:avLst>
        </a:prstGeom>
        <a:solidFill>
          <a:schemeClr val="accent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en-US" sz="2600" kern="1200" dirty="0" smtClean="0">
              <a:solidFill>
                <a:schemeClr val="tx1"/>
              </a:solidFill>
            </a:rPr>
            <a:t>Data Models</a:t>
          </a:r>
          <a:endParaRPr lang="en-US" sz="2600" kern="1200" dirty="0">
            <a:solidFill>
              <a:schemeClr val="tx1"/>
            </a:solidFill>
          </a:endParaRPr>
        </a:p>
      </dsp:txBody>
      <dsp:txXfrm rot="-5400000">
        <a:off x="6800608" y="4331094"/>
        <a:ext cx="1521738" cy="1146882"/>
      </dsp:txXfrm>
    </dsp:sp>
    <dsp:sp modelId="{AF16873A-15AF-49F4-8309-E2F84C72F589}">
      <dsp:nvSpPr>
        <dsp:cNvPr id="0" name=""/>
        <dsp:cNvSpPr/>
      </dsp:nvSpPr>
      <dsp:spPr>
        <a:xfrm>
          <a:off x="5705994" y="4072114"/>
          <a:ext cx="2425776" cy="1304180"/>
        </a:xfrm>
        <a:prstGeom prst="rect">
          <a:avLst/>
        </a:prstGeom>
        <a:noFill/>
        <a:ln>
          <a:noFill/>
        </a:ln>
        <a:effectLst/>
      </dsp:spPr>
      <dsp:style>
        <a:lnRef idx="0">
          <a:scrgbClr r="0" g="0" b="0"/>
        </a:lnRef>
        <a:fillRef idx="0">
          <a:scrgbClr r="0" g="0" b="0"/>
        </a:fillRef>
        <a:effectRef idx="0">
          <a:scrgbClr r="0" g="0" b="0"/>
        </a:effectRef>
        <a:fontRef idx="minor"/>
      </dsp:style>
    </dsp:sp>
    <dsp:sp modelId="{837728AD-08D1-4020-BFF6-2BB16F300E7D}">
      <dsp:nvSpPr>
        <dsp:cNvPr id="0" name=""/>
        <dsp:cNvSpPr/>
      </dsp:nvSpPr>
      <dsp:spPr>
        <a:xfrm rot="5400000">
          <a:off x="1093301" y="3659253"/>
          <a:ext cx="2173634" cy="1891062"/>
        </a:xfrm>
        <a:prstGeom prst="hexagon">
          <a:avLst>
            <a:gd name="adj" fmla="val 25000"/>
            <a:gd name="vf" fmla="val 115470"/>
          </a:avLst>
        </a:prstGeom>
        <a:solidFill>
          <a:schemeClr val="accent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066800">
            <a:lnSpc>
              <a:spcPct val="90000"/>
            </a:lnSpc>
            <a:spcBef>
              <a:spcPct val="0"/>
            </a:spcBef>
            <a:spcAft>
              <a:spcPct val="35000"/>
            </a:spcAft>
          </a:pPr>
          <a:r>
            <a:rPr lang="en-US" sz="2400" kern="1200" dirty="0" smtClean="0">
              <a:solidFill>
                <a:schemeClr val="tx1"/>
              </a:solidFill>
            </a:rPr>
            <a:t>Databases</a:t>
          </a:r>
          <a:endParaRPr lang="en-US" sz="2400" kern="1200" dirty="0">
            <a:solidFill>
              <a:schemeClr val="tx1"/>
            </a:solidFill>
          </a:endParaRPr>
        </a:p>
      </dsp:txBody>
      <dsp:txXfrm rot="-5400000">
        <a:off x="1529278" y="3856692"/>
        <a:ext cx="1301680" cy="1496184"/>
      </dsp:txXfrm>
    </dsp:sp>
  </dsp:spTree>
</dsp:drawing>
</file>

<file path=ppt/diagrams/layout1.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597DF6-B167-4686-96EF-8756A8C62D25}" type="datetimeFigureOut">
              <a:rPr lang="en-US" smtClean="0"/>
              <a:t>27-Jan-26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91326F-E19F-49E5-B6CD-4187CD1D5EFF}" type="slidenum">
              <a:rPr lang="en-US" smtClean="0"/>
              <a:t>‹#›</a:t>
            </a:fld>
            <a:endParaRPr lang="en-US"/>
          </a:p>
        </p:txBody>
      </p:sp>
    </p:spTree>
    <p:extLst>
      <p:ext uri="{BB962C8B-B14F-4D97-AF65-F5344CB8AC3E}">
        <p14:creationId xmlns:p14="http://schemas.microsoft.com/office/powerpoint/2010/main" val="3877124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2f4bf49f10f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2f4bf49f10f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691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2f4bf49f10f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2f4bf49f10f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42126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2f4bf49f10f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2f4bf49f10f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**Personnel : </a:t>
            </a:r>
            <a:r>
              <a:rPr lang="as-IN" b="1" i="0" dirty="0">
                <a:solidFill>
                  <a:srgbClr val="111111"/>
                </a:solidFill>
                <a:effectLst/>
                <a:latin typeface="Roboto" panose="02000000000000000000" pitchFamily="2" charset="0"/>
              </a:rPr>
              <a:t>সেই সমস্ত মানুষ</a:t>
            </a:r>
            <a:r>
              <a:rPr lang="as-IN" b="0" i="0" dirty="0">
                <a:solidFill>
                  <a:srgbClr val="111111"/>
                </a:solidFill>
                <a:effectLst/>
                <a:latin typeface="Roboto" panose="02000000000000000000" pitchFamily="2" charset="0"/>
              </a:rPr>
              <a:t> যারা একটি কোম্পানি, সংস্থা অথবা সশস্ত্র বাহিনীর কোনো একটিতে কর্মরত</a:t>
            </a:r>
            <a:endParaRPr dirty="0"/>
          </a:p>
        </p:txBody>
      </p:sp>
    </p:spTree>
    <p:extLst>
      <p:ext uri="{BB962C8B-B14F-4D97-AF65-F5344CB8AC3E}">
        <p14:creationId xmlns:p14="http://schemas.microsoft.com/office/powerpoint/2010/main" val="7108669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2f4cd59478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2f4cd59478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01173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2f4cd59478d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2f4cd59478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50813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AA1FD7A-9793-422F-98FA-BA7A44F594E9}" type="datetimeFigureOut">
              <a:rPr lang="en-US" smtClean="0"/>
              <a:t>27-Jan-26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210F37-D447-4870-845F-FC4581B83DA9}" type="slidenum">
              <a:rPr lang="en-US" smtClean="0"/>
              <a:t>‹#›</a:t>
            </a:fld>
            <a:endParaRPr lang="en-US"/>
          </a:p>
        </p:txBody>
      </p:sp>
    </p:spTree>
    <p:extLst>
      <p:ext uri="{BB962C8B-B14F-4D97-AF65-F5344CB8AC3E}">
        <p14:creationId xmlns:p14="http://schemas.microsoft.com/office/powerpoint/2010/main" val="34540006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AA1FD7A-9793-422F-98FA-BA7A44F594E9}" type="datetimeFigureOut">
              <a:rPr lang="en-US" smtClean="0"/>
              <a:t>27-Jan-26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210F37-D447-4870-845F-FC4581B83DA9}" type="slidenum">
              <a:rPr lang="en-US" smtClean="0"/>
              <a:t>‹#›</a:t>
            </a:fld>
            <a:endParaRPr lang="en-US"/>
          </a:p>
        </p:txBody>
      </p:sp>
    </p:spTree>
    <p:extLst>
      <p:ext uri="{BB962C8B-B14F-4D97-AF65-F5344CB8AC3E}">
        <p14:creationId xmlns:p14="http://schemas.microsoft.com/office/powerpoint/2010/main" val="1189040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AA1FD7A-9793-422F-98FA-BA7A44F594E9}" type="datetimeFigureOut">
              <a:rPr lang="en-US" smtClean="0"/>
              <a:t>27-Jan-26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210F37-D447-4870-845F-FC4581B83DA9}" type="slidenum">
              <a:rPr lang="en-US" smtClean="0"/>
              <a:t>‹#›</a:t>
            </a:fld>
            <a:endParaRPr lang="en-US"/>
          </a:p>
        </p:txBody>
      </p:sp>
    </p:spTree>
    <p:extLst>
      <p:ext uri="{BB962C8B-B14F-4D97-AF65-F5344CB8AC3E}">
        <p14:creationId xmlns:p14="http://schemas.microsoft.com/office/powerpoint/2010/main" val="299441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AA1FD7A-9793-422F-98FA-BA7A44F594E9}" type="datetimeFigureOut">
              <a:rPr lang="en-US" smtClean="0"/>
              <a:t>27-Jan-26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210F37-D447-4870-845F-FC4581B83DA9}" type="slidenum">
              <a:rPr lang="en-US" smtClean="0"/>
              <a:t>‹#›</a:t>
            </a:fld>
            <a:endParaRPr lang="en-US"/>
          </a:p>
        </p:txBody>
      </p:sp>
    </p:spTree>
    <p:extLst>
      <p:ext uri="{BB962C8B-B14F-4D97-AF65-F5344CB8AC3E}">
        <p14:creationId xmlns:p14="http://schemas.microsoft.com/office/powerpoint/2010/main" val="1831505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AA1FD7A-9793-422F-98FA-BA7A44F594E9}" type="datetimeFigureOut">
              <a:rPr lang="en-US" smtClean="0"/>
              <a:t>27-Jan-26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0210F37-D447-4870-845F-FC4581B83DA9}" type="slidenum">
              <a:rPr lang="en-US" smtClean="0"/>
              <a:t>‹#›</a:t>
            </a:fld>
            <a:endParaRPr lang="en-US"/>
          </a:p>
        </p:txBody>
      </p:sp>
    </p:spTree>
    <p:extLst>
      <p:ext uri="{BB962C8B-B14F-4D97-AF65-F5344CB8AC3E}">
        <p14:creationId xmlns:p14="http://schemas.microsoft.com/office/powerpoint/2010/main" val="4191235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AA1FD7A-9793-422F-98FA-BA7A44F594E9}" type="datetimeFigureOut">
              <a:rPr lang="en-US" smtClean="0"/>
              <a:t>27-Jan-26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0210F37-D447-4870-845F-FC4581B83DA9}" type="slidenum">
              <a:rPr lang="en-US" smtClean="0"/>
              <a:t>‹#›</a:t>
            </a:fld>
            <a:endParaRPr lang="en-US"/>
          </a:p>
        </p:txBody>
      </p:sp>
    </p:spTree>
    <p:extLst>
      <p:ext uri="{BB962C8B-B14F-4D97-AF65-F5344CB8AC3E}">
        <p14:creationId xmlns:p14="http://schemas.microsoft.com/office/powerpoint/2010/main" val="3396885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A1FD7A-9793-422F-98FA-BA7A44F594E9}" type="datetimeFigureOut">
              <a:rPr lang="en-US" smtClean="0"/>
              <a:t>27-Jan-26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0210F37-D447-4870-845F-FC4581B83DA9}" type="slidenum">
              <a:rPr lang="en-US" smtClean="0"/>
              <a:t>‹#›</a:t>
            </a:fld>
            <a:endParaRPr lang="en-US"/>
          </a:p>
        </p:txBody>
      </p:sp>
    </p:spTree>
    <p:extLst>
      <p:ext uri="{BB962C8B-B14F-4D97-AF65-F5344CB8AC3E}">
        <p14:creationId xmlns:p14="http://schemas.microsoft.com/office/powerpoint/2010/main" val="413389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AA1FD7A-9793-422F-98FA-BA7A44F594E9}" type="datetimeFigureOut">
              <a:rPr lang="en-US" smtClean="0"/>
              <a:t>27-Jan-26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210F37-D447-4870-845F-FC4581B83DA9}" type="slidenum">
              <a:rPr lang="en-US" smtClean="0"/>
              <a:t>‹#›</a:t>
            </a:fld>
            <a:endParaRPr lang="en-US"/>
          </a:p>
        </p:txBody>
      </p:sp>
    </p:spTree>
    <p:extLst>
      <p:ext uri="{BB962C8B-B14F-4D97-AF65-F5344CB8AC3E}">
        <p14:creationId xmlns:p14="http://schemas.microsoft.com/office/powerpoint/2010/main" val="5800524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AA1FD7A-9793-422F-98FA-BA7A44F594E9}" type="datetimeFigureOut">
              <a:rPr lang="en-US" smtClean="0"/>
              <a:t>27-Jan-26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210F37-D447-4870-845F-FC4581B83DA9}" type="slidenum">
              <a:rPr lang="en-US" smtClean="0"/>
              <a:t>‹#›</a:t>
            </a:fld>
            <a:endParaRPr lang="en-US"/>
          </a:p>
        </p:txBody>
      </p:sp>
    </p:spTree>
    <p:extLst>
      <p:ext uri="{BB962C8B-B14F-4D97-AF65-F5344CB8AC3E}">
        <p14:creationId xmlns:p14="http://schemas.microsoft.com/office/powerpoint/2010/main" val="3122104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AA1FD7A-9793-422F-98FA-BA7A44F594E9}" type="datetimeFigureOut">
              <a:rPr lang="en-US" smtClean="0"/>
              <a:t>27-Jan-26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210F37-D447-4870-845F-FC4581B83DA9}" type="slidenum">
              <a:rPr lang="en-US" smtClean="0"/>
              <a:t>‹#›</a:t>
            </a:fld>
            <a:endParaRPr lang="en-US"/>
          </a:p>
        </p:txBody>
      </p:sp>
    </p:spTree>
    <p:extLst>
      <p:ext uri="{BB962C8B-B14F-4D97-AF65-F5344CB8AC3E}">
        <p14:creationId xmlns:p14="http://schemas.microsoft.com/office/powerpoint/2010/main" val="41372958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AA1FD7A-9793-422F-98FA-BA7A44F594E9}" type="datetimeFigureOut">
              <a:rPr lang="en-US" smtClean="0"/>
              <a:t>27-Jan-26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210F37-D447-4870-845F-FC4581B83DA9}" type="slidenum">
              <a:rPr lang="en-US" smtClean="0"/>
              <a:t>‹#›</a:t>
            </a:fld>
            <a:endParaRPr lang="en-US"/>
          </a:p>
        </p:txBody>
      </p:sp>
    </p:spTree>
    <p:extLst>
      <p:ext uri="{BB962C8B-B14F-4D97-AF65-F5344CB8AC3E}">
        <p14:creationId xmlns:p14="http://schemas.microsoft.com/office/powerpoint/2010/main" val="7575074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661258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A1FD7A-9793-422F-98FA-BA7A44F594E9}" type="datetimeFigureOut">
              <a:rPr lang="en-US" smtClean="0"/>
              <a:t>27-Jan-26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210F37-D447-4870-845F-FC4581B83DA9}" type="slidenum">
              <a:rPr lang="en-US" smtClean="0"/>
              <a:t>‹#›</a:t>
            </a:fld>
            <a:endParaRPr lang="en-US"/>
          </a:p>
        </p:txBody>
      </p:sp>
    </p:spTree>
    <p:extLst>
      <p:ext uri="{BB962C8B-B14F-4D97-AF65-F5344CB8AC3E}">
        <p14:creationId xmlns:p14="http://schemas.microsoft.com/office/powerpoint/2010/main" val="3684860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Layout" Target="../diagrams/layout1.xml"/><Relationship Id="rId7" Type="http://schemas.openxmlformats.org/officeDocument/2006/relationships/image" Target="../media/image1.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9"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42122" y="777806"/>
            <a:ext cx="9144000" cy="2387600"/>
          </a:xfrm>
        </p:spPr>
        <p:txBody>
          <a:bodyPr/>
          <a:lstStyle/>
          <a:p>
            <a:r>
              <a:rPr lang="en-US" dirty="0" smtClean="0"/>
              <a:t>      Chapter 1</a:t>
            </a:r>
            <a:br>
              <a:rPr lang="en-US" dirty="0" smtClean="0"/>
            </a:br>
            <a:endParaRPr lang="en-US" dirty="0"/>
          </a:p>
        </p:txBody>
      </p:sp>
      <p:sp>
        <p:nvSpPr>
          <p:cNvPr id="3" name="Subtitle 2"/>
          <p:cNvSpPr>
            <a:spLocks noGrp="1"/>
          </p:cNvSpPr>
          <p:nvPr>
            <p:ph type="subTitle" idx="1"/>
          </p:nvPr>
        </p:nvSpPr>
        <p:spPr>
          <a:xfrm>
            <a:off x="1311964" y="3032193"/>
            <a:ext cx="9144000" cy="2520467"/>
          </a:xfrm>
        </p:spPr>
        <p:txBody>
          <a:bodyPr>
            <a:noAutofit/>
          </a:bodyPr>
          <a:lstStyle/>
          <a:p>
            <a:r>
              <a:rPr lang="en-US" dirty="0" smtClean="0">
                <a:solidFill>
                  <a:srgbClr val="C00000"/>
                </a:solidFill>
              </a:rPr>
              <a:t>Information Systems in Business Today</a:t>
            </a:r>
          </a:p>
          <a:p>
            <a:r>
              <a:rPr lang="en-US" u="sng" dirty="0" smtClean="0"/>
              <a:t>Book</a:t>
            </a:r>
          </a:p>
          <a:p>
            <a:r>
              <a:rPr lang="en-US" dirty="0" smtClean="0"/>
              <a:t>Management Information Systems</a:t>
            </a:r>
          </a:p>
          <a:p>
            <a:r>
              <a:rPr lang="en-US" dirty="0" smtClean="0"/>
              <a:t>Fourteenth Edition</a:t>
            </a:r>
          </a:p>
          <a:p>
            <a:r>
              <a:rPr lang="en-US" dirty="0" smtClean="0"/>
              <a:t>Kenneth C. Laudon, Jane P. Laudon</a:t>
            </a:r>
            <a:endParaRPr lang="en-US" dirty="0"/>
          </a:p>
        </p:txBody>
      </p:sp>
    </p:spTree>
    <p:extLst>
      <p:ext uri="{BB962C8B-B14F-4D97-AF65-F5344CB8AC3E}">
        <p14:creationId xmlns:p14="http://schemas.microsoft.com/office/powerpoint/2010/main" val="99255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latin typeface="Arial" panose="020B0604020202020204" pitchFamily="34" charset="0"/>
                <a:cs typeface="Arial" panose="020B0604020202020204" pitchFamily="34" charset="0"/>
              </a:rPr>
              <a:t>Learning Objectives</a:t>
            </a:r>
            <a:endParaRPr lang="en-US" sz="32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smtClean="0"/>
              <a:t>Understand the effects of information systems on business and their relationship to globalization.</a:t>
            </a:r>
          </a:p>
          <a:p>
            <a:pPr>
              <a:buFont typeface="Wingdings" panose="05000000000000000000" pitchFamily="2" charset="2"/>
              <a:buChar char="Ø"/>
            </a:pPr>
            <a:r>
              <a:rPr lang="en-US" dirty="0" smtClean="0"/>
              <a:t> Explain why information systems are so essential in business today.</a:t>
            </a:r>
          </a:p>
          <a:p>
            <a:pPr>
              <a:buFont typeface="Wingdings" panose="05000000000000000000" pitchFamily="2" charset="2"/>
              <a:buChar char="Ø"/>
            </a:pPr>
            <a:r>
              <a:rPr lang="en-US" dirty="0" smtClean="0"/>
              <a:t>Define an information system and describe its management, organization, and technology components.</a:t>
            </a:r>
          </a:p>
          <a:p>
            <a:pPr>
              <a:buFont typeface="Wingdings" panose="05000000000000000000" pitchFamily="2" charset="2"/>
              <a:buChar char="Ø"/>
            </a:pPr>
            <a:r>
              <a:rPr lang="en-US" dirty="0" smtClean="0"/>
              <a:t>Describe the different academic disciplines used to study information systems and explain how each contributes to our understanding of them. </a:t>
            </a:r>
            <a:endParaRPr lang="en-US" dirty="0"/>
          </a:p>
        </p:txBody>
      </p:sp>
    </p:spTree>
    <p:extLst>
      <p:ext uri="{BB962C8B-B14F-4D97-AF65-F5344CB8AC3E}">
        <p14:creationId xmlns:p14="http://schemas.microsoft.com/office/powerpoint/2010/main" val="42551792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36103" y="278295"/>
            <a:ext cx="9144000" cy="1137134"/>
          </a:xfrm>
        </p:spPr>
        <p:txBody>
          <a:bodyPr>
            <a:noAutofit/>
          </a:bodyPr>
          <a:lstStyle/>
          <a:p>
            <a:pPr marL="457200" lvl="0" indent="-342900">
              <a:lnSpc>
                <a:spcPct val="115000"/>
              </a:lnSpc>
              <a:spcBef>
                <a:spcPts val="0"/>
              </a:spcBef>
            </a:pPr>
            <a:r>
              <a:rPr kumimoji="0" lang="en-US" sz="1800" b="1" i="0" u="none" strike="noStrike" kern="0" cap="none" spc="0" normalizeH="0" baseline="0" noProof="0" dirty="0" smtClean="0">
                <a:ln>
                  <a:noFill/>
                </a:ln>
                <a:solidFill>
                  <a:srgbClr val="595959"/>
                </a:solidFill>
                <a:effectLst/>
                <a:uLnTx/>
                <a:uFillTx/>
                <a:latin typeface="Avenir Next LT Pro (Body)"/>
                <a:cs typeface="Arial"/>
                <a:sym typeface="Arial"/>
              </a:rPr>
              <a:t/>
            </a:r>
            <a:br>
              <a:rPr kumimoji="0" lang="en-US" sz="1800" b="1" i="0" u="none" strike="noStrike" kern="0" cap="none" spc="0" normalizeH="0" baseline="0" noProof="0" dirty="0" smtClean="0">
                <a:ln>
                  <a:noFill/>
                </a:ln>
                <a:solidFill>
                  <a:srgbClr val="595959"/>
                </a:solidFill>
                <a:effectLst/>
                <a:uLnTx/>
                <a:uFillTx/>
                <a:latin typeface="Avenir Next LT Pro (Body)"/>
                <a:cs typeface="Arial"/>
                <a:sym typeface="Arial"/>
              </a:rPr>
            </a:br>
            <a:r>
              <a:rPr lang="en-US" sz="1800" b="1" kern="0" dirty="0">
                <a:solidFill>
                  <a:srgbClr val="595959"/>
                </a:solidFill>
                <a:latin typeface="Avenir Next LT Pro (Body)"/>
                <a:cs typeface="Arial"/>
                <a:sym typeface="Arial"/>
              </a:rPr>
              <a:t/>
            </a:r>
            <a:br>
              <a:rPr lang="en-US" sz="1800" b="1" kern="0" dirty="0">
                <a:solidFill>
                  <a:srgbClr val="595959"/>
                </a:solidFill>
                <a:latin typeface="Avenir Next LT Pro (Body)"/>
                <a:cs typeface="Arial"/>
                <a:sym typeface="Arial"/>
              </a:rPr>
            </a:br>
            <a:r>
              <a:rPr lang="en-US" sz="1800" b="1" kern="0" dirty="0" smtClean="0">
                <a:solidFill>
                  <a:srgbClr val="595959"/>
                </a:solidFill>
                <a:latin typeface="Avenir Next LT Pro (Body)"/>
                <a:cs typeface="Arial"/>
                <a:sym typeface="Arial"/>
              </a:rPr>
              <a:t/>
            </a:r>
            <a:br>
              <a:rPr lang="en-US" sz="1800" b="1" kern="0" dirty="0" smtClean="0">
                <a:solidFill>
                  <a:srgbClr val="595959"/>
                </a:solidFill>
                <a:latin typeface="Avenir Next LT Pro (Body)"/>
                <a:cs typeface="Arial"/>
                <a:sym typeface="Arial"/>
              </a:rPr>
            </a:br>
            <a:r>
              <a:rPr lang="en-US" sz="1800" b="1" kern="0" dirty="0">
                <a:solidFill>
                  <a:srgbClr val="595959"/>
                </a:solidFill>
                <a:latin typeface="Avenir Next LT Pro (Body)"/>
                <a:cs typeface="Arial"/>
                <a:sym typeface="Arial"/>
              </a:rPr>
              <a:t/>
            </a:r>
            <a:br>
              <a:rPr lang="en-US" sz="1800" b="1" kern="0" dirty="0">
                <a:solidFill>
                  <a:srgbClr val="595959"/>
                </a:solidFill>
                <a:latin typeface="Avenir Next LT Pro (Body)"/>
                <a:cs typeface="Arial"/>
                <a:sym typeface="Arial"/>
              </a:rPr>
            </a:br>
            <a:r>
              <a:rPr kumimoji="0" lang="en-US" sz="2800" b="1" i="0" u="none" strike="noStrike" kern="0" cap="none" spc="0" normalizeH="0" baseline="0" noProof="0" dirty="0" smtClean="0">
                <a:ln>
                  <a:noFill/>
                </a:ln>
                <a:solidFill>
                  <a:srgbClr val="595959"/>
                </a:solidFill>
                <a:effectLst/>
                <a:uLnTx/>
                <a:uFillTx/>
                <a:latin typeface="Arial" panose="020B0604020202020204" pitchFamily="34" charset="0"/>
                <a:cs typeface="Arial" panose="020B0604020202020204" pitchFamily="34" charset="0"/>
                <a:sym typeface="Arial"/>
              </a:rPr>
              <a:t>What is a </a:t>
            </a:r>
            <a:r>
              <a:rPr kumimoji="0" lang="en-US" sz="2800" b="1" i="0" u="none" strike="noStrike" kern="0" cap="none" spc="0" normalizeH="0" baseline="0" noProof="0" dirty="0" smtClean="0">
                <a:ln>
                  <a:noFill/>
                </a:ln>
                <a:solidFill>
                  <a:srgbClr val="0000FF"/>
                </a:solidFill>
                <a:effectLst/>
                <a:uLnTx/>
                <a:uFillTx/>
                <a:latin typeface="Arial" panose="020B0604020202020204" pitchFamily="34" charset="0"/>
                <a:cs typeface="Arial" panose="020B0604020202020204" pitchFamily="34" charset="0"/>
                <a:sym typeface="Arial"/>
              </a:rPr>
              <a:t>Management Information System?</a:t>
            </a:r>
            <a:br>
              <a:rPr kumimoji="0" lang="en-US" sz="2800" b="1" i="0" u="none" strike="noStrike" kern="0" cap="none" spc="0" normalizeH="0" baseline="0" noProof="0" dirty="0" smtClean="0">
                <a:ln>
                  <a:noFill/>
                </a:ln>
                <a:solidFill>
                  <a:srgbClr val="0000FF"/>
                </a:solidFill>
                <a:effectLst/>
                <a:uLnTx/>
                <a:uFillTx/>
                <a:latin typeface="Arial" panose="020B0604020202020204" pitchFamily="34" charset="0"/>
                <a:cs typeface="Arial" panose="020B0604020202020204" pitchFamily="34" charset="0"/>
                <a:sym typeface="Arial"/>
              </a:rPr>
            </a:br>
            <a:endParaRPr lang="en-US" sz="2800" dirty="0">
              <a:solidFill>
                <a:srgbClr val="0000FF"/>
              </a:solidFill>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463826" y="1216647"/>
            <a:ext cx="10668000" cy="4746831"/>
          </a:xfrm>
        </p:spPr>
        <p:txBody>
          <a:bodyPr/>
          <a:lstStyle/>
          <a:p>
            <a:pPr marL="342900" indent="-342900" algn="just">
              <a:buFont typeface="Wingdings" panose="05000000000000000000" pitchFamily="2" charset="2"/>
              <a:buChar char="v"/>
            </a:pPr>
            <a:r>
              <a:rPr lang="en-US" sz="2800" dirty="0" smtClean="0"/>
              <a:t>Management information system is a system consisting of </a:t>
            </a:r>
            <a:r>
              <a:rPr lang="en-US" sz="2800" dirty="0" smtClean="0">
                <a:solidFill>
                  <a:srgbClr val="FF0000"/>
                </a:solidFill>
              </a:rPr>
              <a:t>people, machines, procedures, databases and data models</a:t>
            </a:r>
            <a:r>
              <a:rPr lang="en-US" sz="2800" dirty="0" smtClean="0"/>
              <a:t>, as its elements. The system gathers data from the internal and external sources of an organization.</a:t>
            </a:r>
          </a:p>
          <a:p>
            <a:pPr marL="342900" indent="-342900" algn="just">
              <a:buFont typeface="Wingdings" panose="05000000000000000000" pitchFamily="2" charset="2"/>
              <a:buChar char="v"/>
            </a:pPr>
            <a:r>
              <a:rPr lang="en-US" sz="2800" dirty="0" smtClean="0"/>
              <a:t>The acronym of </a:t>
            </a:r>
            <a:r>
              <a:rPr lang="en-US" sz="2800" dirty="0" smtClean="0">
                <a:solidFill>
                  <a:srgbClr val="7030A0"/>
                </a:solidFill>
              </a:rPr>
              <a:t>Management Information System</a:t>
            </a:r>
            <a:r>
              <a:rPr lang="en-US" sz="2800" dirty="0" smtClean="0"/>
              <a:t> is  </a:t>
            </a:r>
            <a:r>
              <a:rPr lang="en-US" sz="2800" dirty="0" smtClean="0">
                <a:solidFill>
                  <a:srgbClr val="FF0000"/>
                </a:solidFill>
              </a:rPr>
              <a:t>MIS</a:t>
            </a:r>
            <a:endParaRPr lang="en-US" sz="2800" dirty="0" smtClean="0"/>
          </a:p>
          <a:p>
            <a:pPr marL="342900" indent="-342900" algn="just">
              <a:buFont typeface="Wingdings" panose="05000000000000000000" pitchFamily="2" charset="2"/>
              <a:buChar char="v"/>
            </a:pPr>
            <a:r>
              <a:rPr lang="en-US" sz="2800" dirty="0" smtClean="0"/>
              <a:t>Management is the art of getting things done through and with the people in formally organized groups.</a:t>
            </a:r>
          </a:p>
          <a:p>
            <a:pPr marL="342900" indent="-342900" algn="just">
              <a:buFont typeface="Wingdings" panose="05000000000000000000" pitchFamily="2" charset="2"/>
              <a:buChar char="v"/>
            </a:pPr>
            <a:r>
              <a:rPr lang="en-US" sz="2800" dirty="0" smtClean="0"/>
              <a:t>An MIS helps decision making by providing timely, relevant and accurate information to managers.</a:t>
            </a:r>
          </a:p>
          <a:p>
            <a:pPr marL="342900" indent="-342900" algn="just">
              <a:buFont typeface="Wingdings" panose="05000000000000000000" pitchFamily="2" charset="2"/>
              <a:buChar char="v"/>
            </a:pPr>
            <a:endParaRPr lang="en-US" dirty="0" smtClean="0"/>
          </a:p>
          <a:p>
            <a:pPr algn="just"/>
            <a:endParaRPr lang="en-US" dirty="0"/>
          </a:p>
        </p:txBody>
      </p:sp>
    </p:spTree>
    <p:extLst>
      <p:ext uri="{BB962C8B-B14F-4D97-AF65-F5344CB8AC3E}">
        <p14:creationId xmlns:p14="http://schemas.microsoft.com/office/powerpoint/2010/main" val="1954012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9580" y="333555"/>
            <a:ext cx="10515600" cy="1325563"/>
          </a:xfrm>
        </p:spPr>
        <p:txBody>
          <a:bodyPr/>
          <a:lstStyle/>
          <a:p>
            <a:r>
              <a:rPr lang="en-US" sz="2800" b="1" kern="0" dirty="0" smtClean="0">
                <a:latin typeface="Arial" panose="020B0604020202020204" pitchFamily="34" charset="0"/>
                <a:cs typeface="Arial" panose="020B0604020202020204" pitchFamily="34" charset="0"/>
                <a:sym typeface="Arial"/>
              </a:rPr>
              <a:t>Elements of </a:t>
            </a:r>
            <a:r>
              <a:rPr kumimoji="0" lang="en-US" sz="2800" b="1" i="0" u="none" strike="noStrike" kern="0" cap="none" spc="0" normalizeH="0" baseline="0" noProof="0" dirty="0" smtClean="0">
                <a:ln>
                  <a:noFill/>
                </a:ln>
                <a:effectLst/>
                <a:uLnTx/>
                <a:uFillTx/>
                <a:latin typeface="Arial" panose="020B0604020202020204" pitchFamily="34" charset="0"/>
                <a:ea typeface="+mj-ea"/>
                <a:cs typeface="Arial" panose="020B0604020202020204" pitchFamily="34" charset="0"/>
                <a:sym typeface="Arial"/>
              </a:rPr>
              <a:t> </a:t>
            </a:r>
            <a:r>
              <a:rPr kumimoji="0" lang="en-US" sz="2800" b="1" i="0" u="none" strike="noStrike" kern="0" cap="none" spc="0" normalizeH="0" baseline="0" noProof="0" dirty="0" smtClean="0">
                <a:ln>
                  <a:noFill/>
                </a:ln>
                <a:solidFill>
                  <a:srgbClr val="0000FF"/>
                </a:solidFill>
                <a:effectLst/>
                <a:uLnTx/>
                <a:uFillTx/>
                <a:latin typeface="Arial" panose="020B0604020202020204" pitchFamily="34" charset="0"/>
                <a:ea typeface="+mj-ea"/>
                <a:cs typeface="Arial" panose="020B0604020202020204" pitchFamily="34" charset="0"/>
                <a:sym typeface="Arial"/>
              </a:rPr>
              <a:t>Management Information System</a:t>
            </a:r>
            <a:br>
              <a:rPr kumimoji="0" lang="en-US" sz="2800" b="1" i="0" u="none" strike="noStrike" kern="0" cap="none" spc="0" normalizeH="0" baseline="0" noProof="0" dirty="0" smtClean="0">
                <a:ln>
                  <a:noFill/>
                </a:ln>
                <a:solidFill>
                  <a:srgbClr val="0000FF"/>
                </a:solidFill>
                <a:effectLst/>
                <a:uLnTx/>
                <a:uFillTx/>
                <a:latin typeface="Arial" panose="020B0604020202020204" pitchFamily="34" charset="0"/>
                <a:ea typeface="+mj-ea"/>
                <a:cs typeface="Arial" panose="020B0604020202020204" pitchFamily="34" charset="0"/>
                <a:sym typeface="Arial"/>
              </a:rPr>
            </a:b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945422708"/>
              </p:ext>
            </p:extLst>
          </p:nvPr>
        </p:nvGraphicFramePr>
        <p:xfrm>
          <a:off x="626165" y="993913"/>
          <a:ext cx="10515600" cy="57646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ight Arrow 4"/>
          <p:cNvSpPr/>
          <p:nvPr/>
        </p:nvSpPr>
        <p:spPr>
          <a:xfrm>
            <a:off x="3472070" y="3740016"/>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7"/>
          <a:stretch>
            <a:fillRect/>
          </a:stretch>
        </p:blipFill>
        <p:spPr>
          <a:xfrm rot="19387037">
            <a:off x="3860193" y="5394351"/>
            <a:ext cx="1180569" cy="518205"/>
          </a:xfrm>
          <a:prstGeom prst="rect">
            <a:avLst/>
          </a:prstGeom>
        </p:spPr>
      </p:pic>
      <p:pic>
        <p:nvPicPr>
          <p:cNvPr id="7" name="Picture 6"/>
          <p:cNvPicPr>
            <a:picLocks noChangeAspect="1"/>
          </p:cNvPicPr>
          <p:nvPr/>
        </p:nvPicPr>
        <p:blipFill>
          <a:blip r:embed="rId8"/>
          <a:stretch>
            <a:fillRect/>
          </a:stretch>
        </p:blipFill>
        <p:spPr>
          <a:xfrm rot="15300314">
            <a:off x="5751253" y="5041113"/>
            <a:ext cx="1294848" cy="1224684"/>
          </a:xfrm>
          <a:prstGeom prst="rect">
            <a:avLst/>
          </a:prstGeom>
        </p:spPr>
      </p:pic>
      <p:pic>
        <p:nvPicPr>
          <p:cNvPr id="8" name="Picture 7"/>
          <p:cNvPicPr>
            <a:picLocks noChangeAspect="1"/>
          </p:cNvPicPr>
          <p:nvPr/>
        </p:nvPicPr>
        <p:blipFill>
          <a:blip r:embed="rId9"/>
          <a:stretch>
            <a:fillRect/>
          </a:stretch>
        </p:blipFill>
        <p:spPr>
          <a:xfrm rot="17285576">
            <a:off x="6346488" y="3688167"/>
            <a:ext cx="1031739" cy="1080177"/>
          </a:xfrm>
          <a:prstGeom prst="rect">
            <a:avLst/>
          </a:prstGeom>
        </p:spPr>
      </p:pic>
      <p:sp>
        <p:nvSpPr>
          <p:cNvPr id="9" name="Down Arrow 8"/>
          <p:cNvSpPr/>
          <p:nvPr/>
        </p:nvSpPr>
        <p:spPr>
          <a:xfrm>
            <a:off x="5078134" y="2805041"/>
            <a:ext cx="484632" cy="74710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4698163" y="6067934"/>
            <a:ext cx="941513" cy="369332"/>
          </a:xfrm>
          <a:prstGeom prst="rect">
            <a:avLst/>
          </a:prstGeom>
        </p:spPr>
        <p:txBody>
          <a:bodyPr wrap="square">
            <a:spAutoFit/>
          </a:bodyPr>
          <a:lstStyle/>
          <a:p>
            <a:r>
              <a:rPr lang="en-US" dirty="0"/>
              <a:t>Fig 1</a:t>
            </a:r>
          </a:p>
        </p:txBody>
      </p:sp>
    </p:spTree>
    <p:extLst>
      <p:ext uri="{BB962C8B-B14F-4D97-AF65-F5344CB8AC3E}">
        <p14:creationId xmlns:p14="http://schemas.microsoft.com/office/powerpoint/2010/main" val="20093759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32371"/>
          </a:xfrm>
        </p:spPr>
        <p:txBody>
          <a:bodyPr>
            <a:normAutofit/>
          </a:bodyPr>
          <a:lstStyle/>
          <a:p>
            <a:r>
              <a:rPr lang="en-US" sz="3200" dirty="0" smtClean="0">
                <a:solidFill>
                  <a:srgbClr val="0000FF"/>
                </a:solidFill>
                <a:latin typeface="Arial" panose="020B0604020202020204" pitchFamily="34" charset="0"/>
                <a:cs typeface="Arial" panose="020B0604020202020204" pitchFamily="34" charset="0"/>
              </a:rPr>
              <a:t>Role of Management Information Systems in an Organization</a:t>
            </a:r>
            <a:endParaRPr lang="en-US" sz="3200" dirty="0">
              <a:solidFill>
                <a:srgbClr val="0000FF"/>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93644" y="1497496"/>
            <a:ext cx="10515600" cy="5115339"/>
          </a:xfrm>
        </p:spPr>
        <p:txBody>
          <a:bodyPr>
            <a:normAutofit fontScale="77500" lnSpcReduction="20000"/>
          </a:bodyPr>
          <a:lstStyle/>
          <a:p>
            <a:pPr>
              <a:lnSpc>
                <a:spcPct val="120000"/>
              </a:lnSpc>
            </a:pPr>
            <a:r>
              <a:rPr lang="en-US" dirty="0" smtClean="0"/>
              <a:t>The </a:t>
            </a:r>
            <a:r>
              <a:rPr lang="en-US" dirty="0">
                <a:solidFill>
                  <a:srgbClr val="0000FF"/>
                </a:solidFill>
                <a:latin typeface="Arial" panose="020B0604020202020204" pitchFamily="34" charset="0"/>
                <a:ea typeface="+mj-ea"/>
                <a:cs typeface="Arial" panose="020B0604020202020204" pitchFamily="34" charset="0"/>
              </a:rPr>
              <a:t>Management Information Systems </a:t>
            </a:r>
            <a:r>
              <a:rPr lang="en-US" dirty="0" smtClean="0"/>
              <a:t>ensures that an appropriate data is collected from the various sources, processed, and sent further to all the needy destinations. The system is expected to fulfill the information needs of an individual, a group of individuals, the management functionaries, the managers and the top management. MIS satisfies the diverse needs through a variety of systems such as Query Systems, Analysis Systems, Modeling Systems and Decision Support Systems, MIS helps in Strategic Planning, Management Control, Operational Control and Transaction Processing.</a:t>
            </a:r>
          </a:p>
          <a:p>
            <a:pPr>
              <a:lnSpc>
                <a:spcPct val="120000"/>
              </a:lnSpc>
            </a:pPr>
            <a:endParaRPr lang="en-US" dirty="0" smtClean="0"/>
          </a:p>
          <a:p>
            <a:pPr>
              <a:lnSpc>
                <a:spcPct val="120000"/>
              </a:lnSpc>
            </a:pPr>
            <a:r>
              <a:rPr lang="en-US" dirty="0" smtClean="0"/>
              <a:t>MIS helps the clerical personnel in the transaction processing and answers their queries on the data pertaining to the transaction, the status of a particular record and references on a variety of documents. MIS helps the junior management personnel by providing the operational data for planning, scheduling and control, and helps them further in decision making at the operations level to correct an out of control situation.</a:t>
            </a:r>
            <a:endParaRPr lang="en-US" dirty="0"/>
          </a:p>
        </p:txBody>
      </p:sp>
    </p:spTree>
    <p:extLst>
      <p:ext uri="{BB962C8B-B14F-4D97-AF65-F5344CB8AC3E}">
        <p14:creationId xmlns:p14="http://schemas.microsoft.com/office/powerpoint/2010/main" val="3910546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0000FF"/>
                </a:solidFill>
                <a:latin typeface="Arial" panose="020B0604020202020204" pitchFamily="34" charset="0"/>
                <a:cs typeface="Arial" panose="020B0604020202020204" pitchFamily="34" charset="0"/>
              </a:rPr>
              <a:t>Role of Management Information Systems in an </a:t>
            </a:r>
            <a:r>
              <a:rPr lang="en-US" sz="3200" dirty="0" smtClean="0">
                <a:solidFill>
                  <a:srgbClr val="0000FF"/>
                </a:solidFill>
                <a:latin typeface="Arial" panose="020B0604020202020204" pitchFamily="34" charset="0"/>
                <a:cs typeface="Arial" panose="020B0604020202020204" pitchFamily="34" charset="0"/>
              </a:rPr>
              <a:t>Organization(cont.)</a:t>
            </a:r>
            <a:endParaRPr lang="en-US" dirty="0"/>
          </a:p>
        </p:txBody>
      </p:sp>
      <p:sp>
        <p:nvSpPr>
          <p:cNvPr id="3" name="Content Placeholder 2"/>
          <p:cNvSpPr>
            <a:spLocks noGrp="1"/>
          </p:cNvSpPr>
          <p:nvPr>
            <p:ph idx="1"/>
          </p:nvPr>
        </p:nvSpPr>
        <p:spPr/>
        <p:txBody>
          <a:bodyPr/>
          <a:lstStyle/>
          <a:p>
            <a:pPr>
              <a:lnSpc>
                <a:spcPct val="100000"/>
              </a:lnSpc>
            </a:pPr>
            <a:r>
              <a:rPr lang="en-US" dirty="0" smtClean="0"/>
              <a:t>MIS helps the middle management in short them planning, target setting and controlling the business functions. It is supported by the use of the management tools of planning and control. MIS helps the top management in goal setting, strategic planning and evolving the business plans and their implementation. MIS plays the role of information generation, communication, problem identification and helps in the process of decision making. MIS, therefore, plays a vital role in the management, administration and operations of an organization.</a:t>
            </a:r>
            <a:endParaRPr lang="en-US" dirty="0"/>
          </a:p>
        </p:txBody>
      </p:sp>
    </p:spTree>
    <p:extLst>
      <p:ext uri="{BB962C8B-B14F-4D97-AF65-F5344CB8AC3E}">
        <p14:creationId xmlns:p14="http://schemas.microsoft.com/office/powerpoint/2010/main" val="13397679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7639"/>
          </a:xfrm>
        </p:spPr>
        <p:txBody>
          <a:bodyPr>
            <a:normAutofit fontScale="90000"/>
          </a:bodyPr>
          <a:lstStyle/>
          <a:p>
            <a:r>
              <a:rPr lang="en-US" sz="3200" dirty="0" smtClean="0">
                <a:solidFill>
                  <a:srgbClr val="0000FF"/>
                </a:solidFill>
                <a:latin typeface="Arial" panose="020B0604020202020204" pitchFamily="34" charset="0"/>
                <a:cs typeface="Arial" panose="020B0604020202020204" pitchFamily="34" charset="0"/>
              </a:rPr>
              <a:t>The Interdependence Between Organizations and Information Technology</a:t>
            </a:r>
            <a:endParaRPr lang="en-US" sz="3200" dirty="0">
              <a:solidFill>
                <a:srgbClr val="0000FF"/>
              </a:solidFill>
              <a:latin typeface="Arial" panose="020B0604020202020204" pitchFamily="34" charset="0"/>
              <a:cs typeface="Arial" panose="020B0604020202020204" pitchFamily="34" charset="0"/>
            </a:endParaRPr>
          </a:p>
        </p:txBody>
      </p:sp>
      <p:pic>
        <p:nvPicPr>
          <p:cNvPr id="8" name="Content Placeholder 7"/>
          <p:cNvPicPr>
            <a:picLocks noGrp="1" noChangeAspect="1"/>
          </p:cNvPicPr>
          <p:nvPr>
            <p:ph idx="1"/>
          </p:nvPr>
        </p:nvPicPr>
        <p:blipFill>
          <a:blip r:embed="rId2"/>
          <a:stretch>
            <a:fillRect/>
          </a:stretch>
        </p:blipFill>
        <p:spPr>
          <a:xfrm>
            <a:off x="1497495" y="1248003"/>
            <a:ext cx="8001347" cy="4571428"/>
          </a:xfrm>
          <a:prstGeom prst="rect">
            <a:avLst/>
          </a:prstGeom>
        </p:spPr>
      </p:pic>
      <p:sp>
        <p:nvSpPr>
          <p:cNvPr id="9" name="TextBox 8"/>
          <p:cNvSpPr txBox="1"/>
          <p:nvPr/>
        </p:nvSpPr>
        <p:spPr>
          <a:xfrm>
            <a:off x="388402" y="5657671"/>
            <a:ext cx="11803598" cy="1200329"/>
          </a:xfrm>
          <a:prstGeom prst="rect">
            <a:avLst/>
          </a:prstGeom>
          <a:noFill/>
        </p:spPr>
        <p:txBody>
          <a:bodyPr wrap="square" rtlCol="0">
            <a:spAutoFit/>
          </a:bodyPr>
          <a:lstStyle/>
          <a:p>
            <a:r>
              <a:rPr lang="en-US" dirty="0" smtClean="0"/>
              <a:t>Fig 2:</a:t>
            </a:r>
            <a:r>
              <a:rPr lang="en-US" dirty="0" smtClean="0">
                <a:solidFill>
                  <a:srgbClr val="C00000"/>
                </a:solidFill>
              </a:rPr>
              <a:t> In contemporary systems there is a growing interdependence between a firm’s information systems and</a:t>
            </a:r>
          </a:p>
          <a:p>
            <a:r>
              <a:rPr lang="en-US" dirty="0" smtClean="0">
                <a:solidFill>
                  <a:srgbClr val="C00000"/>
                </a:solidFill>
              </a:rPr>
              <a:t> its business capabilities. Changes in  strategy, rules, and business processes increasingly require changes in hardware, </a:t>
            </a:r>
          </a:p>
          <a:p>
            <a:r>
              <a:rPr lang="en-US" dirty="0" smtClean="0">
                <a:solidFill>
                  <a:srgbClr val="C00000"/>
                </a:solidFill>
              </a:rPr>
              <a:t>software, databases, and telecommunications. Often, what the organization would like to do depends on what its systems </a:t>
            </a:r>
          </a:p>
          <a:p>
            <a:r>
              <a:rPr lang="en-US" dirty="0" smtClean="0">
                <a:solidFill>
                  <a:srgbClr val="C00000"/>
                </a:solidFill>
              </a:rPr>
              <a:t>will permit it to do.</a:t>
            </a:r>
            <a:endParaRPr lang="en-US" dirty="0">
              <a:solidFill>
                <a:srgbClr val="C00000"/>
              </a:solidFill>
            </a:endParaRPr>
          </a:p>
        </p:txBody>
      </p:sp>
    </p:spTree>
    <p:extLst>
      <p:ext uri="{BB962C8B-B14F-4D97-AF65-F5344CB8AC3E}">
        <p14:creationId xmlns:p14="http://schemas.microsoft.com/office/powerpoint/2010/main" val="3832278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99849"/>
          </a:xfrm>
        </p:spPr>
        <p:txBody>
          <a:bodyPr>
            <a:normAutofit/>
          </a:bodyPr>
          <a:lstStyle/>
          <a:p>
            <a:pPr marL="114300" lvl="0">
              <a:lnSpc>
                <a:spcPct val="115000"/>
              </a:lnSpc>
              <a:spcBef>
                <a:spcPts val="0"/>
              </a:spcBef>
            </a:pPr>
            <a:r>
              <a:rPr kumimoji="0" lang="en-US" sz="2000" b="1" i="0" u="none" strike="noStrike" kern="0" cap="none" spc="0" normalizeH="0" baseline="0" noProof="0" dirty="0" smtClean="0">
                <a:ln>
                  <a:noFill/>
                </a:ln>
                <a:solidFill>
                  <a:srgbClr val="FF0000"/>
                </a:solidFill>
                <a:effectLst/>
                <a:uLnTx/>
                <a:uFillTx/>
                <a:latin typeface="Arial" panose="020B0604020202020204" pitchFamily="34" charset="0"/>
                <a:ea typeface="+mn-ea"/>
                <a:cs typeface="Arial" panose="020B0604020202020204" pitchFamily="34" charset="0"/>
                <a:sym typeface="Arial"/>
              </a:rPr>
              <a:t>Two important </a:t>
            </a:r>
            <a:r>
              <a:rPr kumimoji="0" lang="en-US" sz="2000" b="1" i="0" u="none" strike="noStrike" kern="0" cap="none" spc="0" normalizeH="0" baseline="0" noProof="0" dirty="0" smtClean="0">
                <a:ln>
                  <a:noFill/>
                </a:ln>
                <a:solidFill>
                  <a:srgbClr val="000000">
                    <a:lumMod val="95000"/>
                    <a:lumOff val="5000"/>
                  </a:srgbClr>
                </a:solidFill>
                <a:effectLst/>
                <a:uLnTx/>
                <a:uFillTx/>
                <a:latin typeface="Arial" panose="020B0604020202020204" pitchFamily="34" charset="0"/>
                <a:ea typeface="+mn-ea"/>
                <a:cs typeface="Arial" panose="020B0604020202020204" pitchFamily="34" charset="0"/>
                <a:sym typeface="Arial"/>
              </a:rPr>
              <a:t>things to understand in </a:t>
            </a:r>
            <a:r>
              <a:rPr kumimoji="0" lang="en-US" sz="2000" b="1" i="0" u="none" strike="noStrike" kern="0" cap="none" spc="0" normalizeH="0" baseline="0" noProof="0" dirty="0" smtClean="0">
                <a:ln>
                  <a:noFill/>
                </a:ln>
                <a:solidFill>
                  <a:srgbClr val="FFAB40">
                    <a:lumMod val="75000"/>
                  </a:srgbClr>
                </a:solidFill>
                <a:effectLst/>
                <a:uLnTx/>
                <a:uFillTx/>
                <a:latin typeface="Arial" panose="020B0604020202020204" pitchFamily="34" charset="0"/>
                <a:ea typeface="+mn-ea"/>
                <a:cs typeface="Arial" panose="020B0604020202020204" pitchFamily="34" charset="0"/>
                <a:sym typeface="Arial"/>
              </a:rPr>
              <a:t>management. </a:t>
            </a:r>
            <a:br>
              <a:rPr kumimoji="0" lang="en-US" sz="2000" b="1" i="0" u="none" strike="noStrike" kern="0" cap="none" spc="0" normalizeH="0" baseline="0" noProof="0" dirty="0" smtClean="0">
                <a:ln>
                  <a:noFill/>
                </a:ln>
                <a:solidFill>
                  <a:srgbClr val="FFAB40">
                    <a:lumMod val="75000"/>
                  </a:srgbClr>
                </a:solidFill>
                <a:effectLst/>
                <a:uLnTx/>
                <a:uFillTx/>
                <a:latin typeface="Arial" panose="020B0604020202020204" pitchFamily="34" charset="0"/>
                <a:ea typeface="+mn-ea"/>
                <a:cs typeface="Arial" panose="020B0604020202020204" pitchFamily="34" charset="0"/>
                <a:sym typeface="Arial"/>
              </a:rPr>
            </a:br>
            <a:endParaRPr lang="en-US" sz="20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718930" y="1481068"/>
            <a:ext cx="10515600" cy="4351338"/>
          </a:xfrm>
        </p:spPr>
        <p:txBody>
          <a:bodyPr/>
          <a:lstStyle/>
          <a:p>
            <a:pPr marL="114300" lvl="0" indent="0">
              <a:lnSpc>
                <a:spcPct val="115000"/>
              </a:lnSpc>
              <a:spcBef>
                <a:spcPts val="0"/>
              </a:spcBef>
              <a:buClr>
                <a:srgbClr val="595959"/>
              </a:buClr>
              <a:buSzPts val="1800"/>
              <a:buNone/>
            </a:pPr>
            <a:endParaRPr kumimoji="0" lang="en-US" sz="1800" b="1" i="0" u="none" strike="noStrike" kern="0" cap="none" spc="0" normalizeH="0" baseline="0" noProof="0" dirty="0" smtClean="0">
              <a:ln>
                <a:noFill/>
              </a:ln>
              <a:solidFill>
                <a:srgbClr val="FF0000"/>
              </a:solidFill>
              <a:effectLst/>
              <a:uLnTx/>
              <a:uFillTx/>
              <a:latin typeface="Avenir Next LT Pro (Body)"/>
              <a:cs typeface="Arial"/>
              <a:sym typeface="Arial"/>
            </a:endParaRPr>
          </a:p>
          <a:p>
            <a:pPr marL="457200" lvl="0" indent="-342900" algn="just">
              <a:lnSpc>
                <a:spcPct val="115000"/>
              </a:lnSpc>
              <a:spcBef>
                <a:spcPts val="0"/>
              </a:spcBef>
              <a:buClr>
                <a:srgbClr val="595959"/>
              </a:buClr>
              <a:buSzPts val="1800"/>
              <a:buFont typeface="Arial"/>
              <a:buAutoNum type="arabicPeriod"/>
            </a:pPr>
            <a:r>
              <a:rPr kumimoji="0" lang="en-US" sz="1800" b="1" i="0" u="none" strike="noStrike" kern="0" cap="none" spc="0" normalizeH="0" baseline="0" noProof="0" dirty="0" smtClean="0">
                <a:ln>
                  <a:noFill/>
                </a:ln>
                <a:solidFill>
                  <a:srgbClr val="4285F4"/>
                </a:solidFill>
                <a:effectLst/>
                <a:uLnTx/>
                <a:uFillTx/>
                <a:latin typeface="Avenir Next LT Pro (Body)"/>
                <a:cs typeface="Arial"/>
                <a:sym typeface="Arial"/>
              </a:rPr>
              <a:t>Managerial Function </a:t>
            </a:r>
          </a:p>
          <a:p>
            <a:pPr marL="457200" lvl="0" indent="-342900" algn="just">
              <a:lnSpc>
                <a:spcPct val="115000"/>
              </a:lnSpc>
              <a:spcBef>
                <a:spcPts val="0"/>
              </a:spcBef>
              <a:buClr>
                <a:srgbClr val="595959"/>
              </a:buClr>
              <a:buSzPts val="1800"/>
              <a:buFont typeface="Arial"/>
              <a:buAutoNum type="arabicPeriod"/>
            </a:pPr>
            <a:r>
              <a:rPr kumimoji="0" lang="en-US" sz="1800" b="1" i="0" u="none" strike="noStrike" kern="0" cap="none" spc="0" normalizeH="0" baseline="0" noProof="0" dirty="0" smtClean="0">
                <a:ln>
                  <a:noFill/>
                </a:ln>
                <a:solidFill>
                  <a:srgbClr val="4285F4"/>
                </a:solidFill>
                <a:effectLst/>
                <a:uLnTx/>
                <a:uFillTx/>
                <a:latin typeface="Avenir Next LT Pro (Body)"/>
                <a:cs typeface="Arial"/>
                <a:sym typeface="Arial"/>
              </a:rPr>
              <a:t>Management Hierarchy</a:t>
            </a:r>
          </a:p>
          <a:p>
            <a:pPr marL="0" lvl="0" indent="0">
              <a:lnSpc>
                <a:spcPct val="100000"/>
              </a:lnSpc>
              <a:spcBef>
                <a:spcPts val="0"/>
              </a:spcBef>
              <a:buClr>
                <a:srgbClr val="000000"/>
              </a:buClr>
              <a:buNone/>
            </a:pPr>
            <a:endParaRPr kumimoji="0" lang="en-US" sz="1400" b="1" i="0" u="none" strike="noStrike" kern="0" cap="none" spc="0" normalizeH="0" baseline="0" noProof="0" dirty="0" smtClean="0">
              <a:ln>
                <a:noFill/>
              </a:ln>
              <a:solidFill>
                <a:srgbClr val="FFAB40">
                  <a:lumMod val="75000"/>
                </a:srgbClr>
              </a:solidFill>
              <a:effectLst/>
              <a:uLnTx/>
              <a:uFillTx/>
              <a:latin typeface="Avenir Next LT Pro (Body)"/>
              <a:cs typeface="Arial"/>
              <a:sym typeface="Arial"/>
            </a:endParaRPr>
          </a:p>
          <a:p>
            <a:pPr marL="0" lvl="0" indent="0">
              <a:lnSpc>
                <a:spcPct val="100000"/>
              </a:lnSpc>
              <a:spcBef>
                <a:spcPts val="0"/>
              </a:spcBef>
              <a:buClr>
                <a:srgbClr val="000000"/>
              </a:buClr>
              <a:buNone/>
            </a:pPr>
            <a:endParaRPr lang="en-US" sz="1400" b="1" kern="0" dirty="0">
              <a:solidFill>
                <a:srgbClr val="FFAB40">
                  <a:lumMod val="75000"/>
                </a:srgbClr>
              </a:solidFill>
              <a:latin typeface="Avenir Next LT Pro (Body)"/>
              <a:cs typeface="Arial"/>
              <a:sym typeface="Arial"/>
            </a:endParaRPr>
          </a:p>
          <a:p>
            <a:pPr marL="0" lvl="0" indent="0">
              <a:lnSpc>
                <a:spcPct val="100000"/>
              </a:lnSpc>
              <a:spcBef>
                <a:spcPts val="0"/>
              </a:spcBef>
              <a:buClr>
                <a:srgbClr val="000000"/>
              </a:buClr>
              <a:buNone/>
            </a:pPr>
            <a:r>
              <a:rPr kumimoji="0" lang="en-US" sz="2400" b="1" i="0" u="none" strike="noStrike" kern="0" cap="none" spc="0" normalizeH="0" baseline="0" noProof="0" dirty="0" smtClean="0">
                <a:ln>
                  <a:noFill/>
                </a:ln>
                <a:solidFill>
                  <a:srgbClr val="FFAB40">
                    <a:lumMod val="75000"/>
                  </a:srgbClr>
                </a:solidFill>
                <a:effectLst/>
                <a:uLnTx/>
                <a:uFillTx/>
                <a:cs typeface="Arial" panose="020B0604020202020204" pitchFamily="34" charset="0"/>
                <a:sym typeface="Arial"/>
              </a:rPr>
              <a:t>Managerial Function                                                       </a:t>
            </a:r>
          </a:p>
          <a:p>
            <a:pPr marL="0" lvl="0" indent="0">
              <a:lnSpc>
                <a:spcPct val="100000"/>
              </a:lnSpc>
              <a:spcBef>
                <a:spcPts val="0"/>
              </a:spcBef>
              <a:buClr>
                <a:srgbClr val="000000"/>
              </a:buClr>
              <a:buNone/>
            </a:pPr>
            <a:endParaRPr kumimoji="0" lang="en-US" sz="2400" b="1" i="0" u="none" strike="noStrike" kern="0" cap="none" spc="0" normalizeH="0" baseline="0" noProof="0" dirty="0" smtClean="0">
              <a:ln>
                <a:noFill/>
              </a:ln>
              <a:solidFill>
                <a:srgbClr val="4285F4"/>
              </a:solidFill>
              <a:effectLst/>
              <a:uLnTx/>
              <a:uFillTx/>
              <a:cs typeface="Arial" panose="020B0604020202020204" pitchFamily="34" charset="0"/>
              <a:sym typeface="Arial"/>
            </a:endParaRPr>
          </a:p>
          <a:p>
            <a:pPr marL="571500" lvl="1" indent="0">
              <a:lnSpc>
                <a:spcPct val="100000"/>
              </a:lnSpc>
              <a:spcBef>
                <a:spcPts val="0"/>
              </a:spcBef>
              <a:buClr>
                <a:srgbClr val="000000"/>
              </a:buClr>
              <a:buSzPts val="1800"/>
              <a:buNone/>
            </a:pPr>
            <a:r>
              <a:rPr kumimoji="0" lang="en-US" b="1" i="0" u="none" strike="noStrike" kern="0" cap="none" spc="0" normalizeH="0" baseline="0" noProof="0" dirty="0" smtClean="0">
                <a:ln>
                  <a:noFill/>
                </a:ln>
                <a:solidFill>
                  <a:srgbClr val="000000"/>
                </a:solidFill>
                <a:effectLst/>
                <a:uLnTx/>
                <a:uFillTx/>
                <a:cs typeface="Arial" panose="020B0604020202020204" pitchFamily="34" charset="0"/>
                <a:sym typeface="Arial"/>
              </a:rPr>
              <a:t>1. Planning</a:t>
            </a:r>
          </a:p>
          <a:p>
            <a:pPr marL="571500" lvl="1" indent="0">
              <a:lnSpc>
                <a:spcPct val="100000"/>
              </a:lnSpc>
              <a:spcBef>
                <a:spcPts val="0"/>
              </a:spcBef>
              <a:buClr>
                <a:srgbClr val="000000"/>
              </a:buClr>
              <a:buSzPts val="1800"/>
              <a:buNone/>
            </a:pPr>
            <a:r>
              <a:rPr kumimoji="0" lang="en-US" b="1" i="0" u="none" strike="noStrike" kern="0" cap="none" spc="0" normalizeH="0" baseline="0" noProof="0" dirty="0" smtClean="0">
                <a:ln>
                  <a:noFill/>
                </a:ln>
                <a:solidFill>
                  <a:srgbClr val="000000"/>
                </a:solidFill>
                <a:effectLst/>
                <a:uLnTx/>
                <a:uFillTx/>
                <a:cs typeface="Arial" panose="020B0604020202020204" pitchFamily="34" charset="0"/>
                <a:sym typeface="Arial"/>
              </a:rPr>
              <a:t>2. Organizing</a:t>
            </a:r>
          </a:p>
          <a:p>
            <a:pPr marL="571500" lvl="1" indent="0">
              <a:lnSpc>
                <a:spcPct val="100000"/>
              </a:lnSpc>
              <a:spcBef>
                <a:spcPts val="0"/>
              </a:spcBef>
              <a:buClr>
                <a:srgbClr val="000000"/>
              </a:buClr>
              <a:buSzPts val="1800"/>
              <a:buNone/>
            </a:pPr>
            <a:r>
              <a:rPr kumimoji="0" lang="en-US" b="1" i="0" u="none" strike="noStrike" kern="0" cap="none" spc="0" normalizeH="0" baseline="0" noProof="0" dirty="0" smtClean="0">
                <a:ln>
                  <a:noFill/>
                </a:ln>
                <a:solidFill>
                  <a:srgbClr val="000000"/>
                </a:solidFill>
                <a:effectLst/>
                <a:uLnTx/>
                <a:uFillTx/>
                <a:cs typeface="Arial" panose="020B0604020202020204" pitchFamily="34" charset="0"/>
                <a:sym typeface="Arial"/>
              </a:rPr>
              <a:t>3. Staffing</a:t>
            </a:r>
          </a:p>
          <a:p>
            <a:pPr marL="571500" lvl="1" indent="0">
              <a:lnSpc>
                <a:spcPct val="100000"/>
              </a:lnSpc>
              <a:spcBef>
                <a:spcPts val="0"/>
              </a:spcBef>
              <a:buClr>
                <a:srgbClr val="000000"/>
              </a:buClr>
              <a:buSzPts val="1800"/>
              <a:buNone/>
            </a:pPr>
            <a:r>
              <a:rPr kumimoji="0" lang="en-US" b="1" i="0" u="none" strike="noStrike" kern="0" cap="none" spc="0" normalizeH="0" baseline="0" noProof="0" dirty="0" smtClean="0">
                <a:ln>
                  <a:noFill/>
                </a:ln>
                <a:solidFill>
                  <a:srgbClr val="000000"/>
                </a:solidFill>
                <a:effectLst/>
                <a:uLnTx/>
                <a:uFillTx/>
                <a:cs typeface="Arial" panose="020B0604020202020204" pitchFamily="34" charset="0"/>
                <a:sym typeface="Arial"/>
              </a:rPr>
              <a:t>4. Directing</a:t>
            </a:r>
          </a:p>
          <a:p>
            <a:pPr marL="571500" lvl="1" indent="0">
              <a:lnSpc>
                <a:spcPct val="100000"/>
              </a:lnSpc>
              <a:spcBef>
                <a:spcPts val="0"/>
              </a:spcBef>
              <a:buClr>
                <a:srgbClr val="000000"/>
              </a:buClr>
              <a:buSzPts val="1800"/>
              <a:buNone/>
            </a:pPr>
            <a:r>
              <a:rPr kumimoji="0" lang="en-US" b="1" i="0" u="none" strike="noStrike" kern="0" cap="none" spc="0" normalizeH="0" baseline="0" noProof="0" dirty="0" smtClean="0">
                <a:ln>
                  <a:noFill/>
                </a:ln>
                <a:solidFill>
                  <a:srgbClr val="000000"/>
                </a:solidFill>
                <a:effectLst/>
                <a:uLnTx/>
                <a:uFillTx/>
                <a:cs typeface="Arial" panose="020B0604020202020204" pitchFamily="34" charset="0"/>
                <a:sym typeface="Arial"/>
              </a:rPr>
              <a:t>5. Controlling</a:t>
            </a:r>
          </a:p>
          <a:p>
            <a:endParaRPr lang="en-US" dirty="0"/>
          </a:p>
        </p:txBody>
      </p:sp>
      <p:pic>
        <p:nvPicPr>
          <p:cNvPr id="4" name="Picture 3"/>
          <p:cNvPicPr>
            <a:picLocks noChangeAspect="1"/>
          </p:cNvPicPr>
          <p:nvPr/>
        </p:nvPicPr>
        <p:blipFill>
          <a:blip r:embed="rId2"/>
          <a:stretch>
            <a:fillRect/>
          </a:stretch>
        </p:blipFill>
        <p:spPr>
          <a:xfrm>
            <a:off x="5787890" y="3491622"/>
            <a:ext cx="4601813" cy="1904849"/>
          </a:xfrm>
          <a:prstGeom prst="rect">
            <a:avLst/>
          </a:prstGeom>
        </p:spPr>
      </p:pic>
    </p:spTree>
    <p:extLst>
      <p:ext uri="{BB962C8B-B14F-4D97-AF65-F5344CB8AC3E}">
        <p14:creationId xmlns:p14="http://schemas.microsoft.com/office/powerpoint/2010/main" val="3766397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solidFill>
                  <a:srgbClr val="0000FF"/>
                </a:solidFill>
                <a:latin typeface="Arial" panose="020B0604020202020204" pitchFamily="34" charset="0"/>
                <a:cs typeface="Arial" panose="020B0604020202020204" pitchFamily="34" charset="0"/>
              </a:rPr>
              <a:t>Management Hierarchy</a:t>
            </a:r>
            <a:br>
              <a:rPr lang="en-US" sz="3200" dirty="0" smtClean="0">
                <a:solidFill>
                  <a:srgbClr val="0000FF"/>
                </a:solidFill>
                <a:latin typeface="Arial" panose="020B0604020202020204" pitchFamily="34" charset="0"/>
                <a:cs typeface="Arial" panose="020B0604020202020204" pitchFamily="34" charset="0"/>
              </a:rPr>
            </a:br>
            <a:endParaRPr lang="en-US" sz="3200" dirty="0">
              <a:solidFill>
                <a:srgbClr val="0000FF"/>
              </a:solidFill>
              <a:latin typeface="Arial" panose="020B0604020202020204" pitchFamily="34" charset="0"/>
              <a:cs typeface="Arial" panose="020B0604020202020204" pitchFamily="34" charset="0"/>
            </a:endParaRPr>
          </a:p>
        </p:txBody>
      </p:sp>
      <p:pic>
        <p:nvPicPr>
          <p:cNvPr id="4" name="Content Placeholder 3"/>
          <p:cNvPicPr>
            <a:picLocks noGrp="1" noChangeAspect="1"/>
          </p:cNvPicPr>
          <p:nvPr>
            <p:ph idx="1"/>
          </p:nvPr>
        </p:nvPicPr>
        <p:blipFill>
          <a:blip r:embed="rId2"/>
          <a:stretch>
            <a:fillRect/>
          </a:stretch>
        </p:blipFill>
        <p:spPr>
          <a:xfrm>
            <a:off x="3102840" y="1858805"/>
            <a:ext cx="3627434" cy="3304318"/>
          </a:xfrm>
          <a:prstGeom prst="rect">
            <a:avLst/>
          </a:prstGeom>
        </p:spPr>
      </p:pic>
      <p:sp>
        <p:nvSpPr>
          <p:cNvPr id="5" name="Rectangle 4"/>
          <p:cNvSpPr/>
          <p:nvPr/>
        </p:nvSpPr>
        <p:spPr>
          <a:xfrm>
            <a:off x="3785685" y="5656230"/>
            <a:ext cx="2944589" cy="369332"/>
          </a:xfrm>
          <a:prstGeom prst="rect">
            <a:avLst/>
          </a:prstGeom>
        </p:spPr>
        <p:txBody>
          <a:bodyPr wrap="none">
            <a:spAutoFit/>
          </a:bodyPr>
          <a:lstStyle/>
          <a:p>
            <a:r>
              <a:rPr lang="en-US" dirty="0" smtClean="0"/>
              <a:t>Fig 3: Management Hierarchy</a:t>
            </a:r>
            <a:endParaRPr lang="en-US" dirty="0"/>
          </a:p>
        </p:txBody>
      </p:sp>
    </p:spTree>
    <p:extLst>
      <p:ext uri="{BB962C8B-B14F-4D97-AF65-F5344CB8AC3E}">
        <p14:creationId xmlns:p14="http://schemas.microsoft.com/office/powerpoint/2010/main" val="3141682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68626"/>
            <a:ext cx="10515600" cy="901147"/>
          </a:xfrm>
        </p:spPr>
        <p:txBody>
          <a:bodyPr>
            <a:noAutofit/>
          </a:bodyPr>
          <a:lstStyle/>
          <a:p>
            <a:pPr marL="114300" lvl="0">
              <a:lnSpc>
                <a:spcPct val="115000"/>
              </a:lnSpc>
              <a:spcBef>
                <a:spcPts val="0"/>
              </a:spcBef>
            </a:pPr>
            <a:r>
              <a:rPr kumimoji="0" lang="en-US" sz="2800" b="1" i="0" u="none" strike="noStrike" kern="0" cap="none" spc="0" normalizeH="0" baseline="0" noProof="0" dirty="0" smtClean="0">
                <a:ln>
                  <a:noFill/>
                </a:ln>
                <a:solidFill>
                  <a:srgbClr val="0000FF"/>
                </a:solidFill>
                <a:effectLst/>
                <a:uLnTx/>
                <a:uFillTx/>
                <a:latin typeface="Arial" panose="020B0604020202020204" pitchFamily="34" charset="0"/>
                <a:ea typeface="+mn-ea"/>
                <a:cs typeface="Arial" panose="020B0604020202020204" pitchFamily="34" charset="0"/>
                <a:sym typeface="Arial"/>
              </a:rPr>
              <a:t>             Management Hierarchy </a:t>
            </a:r>
            <a:r>
              <a:rPr kumimoji="0" lang="en-US" sz="28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sym typeface="Arial"/>
              </a:rPr>
              <a:t>in depth</a:t>
            </a:r>
            <a:br>
              <a:rPr kumimoji="0" lang="en-US" sz="28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sym typeface="Arial"/>
              </a:rPr>
            </a:br>
            <a:endParaRPr lang="en-US" sz="28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481068"/>
            <a:ext cx="10515600" cy="4946235"/>
          </a:xfrm>
        </p:spPr>
        <p:txBody>
          <a:bodyPr/>
          <a:lstStyle/>
          <a:p>
            <a:pPr marL="114300" lvl="0" indent="0">
              <a:lnSpc>
                <a:spcPct val="115000"/>
              </a:lnSpc>
              <a:spcBef>
                <a:spcPts val="0"/>
              </a:spcBef>
              <a:buClr>
                <a:srgbClr val="595959"/>
              </a:buClr>
              <a:buSzPts val="1800"/>
              <a:buNone/>
            </a:pPr>
            <a:endParaRPr kumimoji="0" lang="en-US" sz="1800" b="1" i="0" u="none" strike="noStrike" kern="0" cap="none" spc="0" normalizeH="0" baseline="0" noProof="0" dirty="0" smtClean="0">
              <a:ln>
                <a:noFill/>
              </a:ln>
              <a:solidFill>
                <a:srgbClr val="000000"/>
              </a:solidFill>
              <a:effectLst/>
              <a:uLnTx/>
              <a:uFillTx/>
              <a:latin typeface="Avenir Next LT Pro (Body)"/>
              <a:cs typeface="Arial"/>
              <a:sym typeface="Arial"/>
            </a:endParaRPr>
          </a:p>
          <a:p>
            <a:pPr marL="457200" lvl="0" indent="-342900">
              <a:lnSpc>
                <a:spcPct val="115000"/>
              </a:lnSpc>
              <a:spcBef>
                <a:spcPts val="0"/>
              </a:spcBef>
              <a:buClr>
                <a:srgbClr val="595959"/>
              </a:buClr>
              <a:buSzPts val="1800"/>
              <a:buFont typeface="Arial"/>
              <a:buAutoNum type="arabicPeriod"/>
            </a:pPr>
            <a:r>
              <a:rPr kumimoji="0" lang="en-US" sz="1800" b="1" i="0" u="none" strike="noStrike" kern="0" cap="none" spc="0" normalizeH="0" baseline="0" noProof="0" dirty="0" smtClean="0">
                <a:ln>
                  <a:noFill/>
                </a:ln>
                <a:solidFill>
                  <a:srgbClr val="00B050"/>
                </a:solidFill>
                <a:effectLst/>
                <a:uLnTx/>
                <a:uFillTx/>
                <a:latin typeface="Avenir Next LT Pro (Body)"/>
                <a:cs typeface="Arial"/>
                <a:sym typeface="Arial"/>
              </a:rPr>
              <a:t>Senior Management</a:t>
            </a:r>
          </a:p>
          <a:p>
            <a:pPr marL="114300" lvl="0" indent="0">
              <a:lnSpc>
                <a:spcPct val="115000"/>
              </a:lnSpc>
              <a:spcBef>
                <a:spcPts val="0"/>
              </a:spcBef>
              <a:buClr>
                <a:srgbClr val="595959"/>
              </a:buClr>
              <a:buSzPts val="1800"/>
              <a:buNone/>
            </a:pPr>
            <a:endParaRPr kumimoji="0" lang="en-US" sz="1800" b="1" i="0" u="none" strike="noStrike" kern="0" cap="none" spc="0" normalizeH="0" baseline="0" noProof="0" dirty="0" smtClean="0">
              <a:ln>
                <a:noFill/>
              </a:ln>
              <a:solidFill>
                <a:srgbClr val="000000"/>
              </a:solidFill>
              <a:effectLst/>
              <a:uLnTx/>
              <a:uFillTx/>
              <a:latin typeface="Avenir Next LT Pro (Body)"/>
              <a:cs typeface="Arial"/>
              <a:sym typeface="Arial"/>
            </a:endParaRPr>
          </a:p>
          <a:p>
            <a:pPr marL="514350" lvl="0" indent="-400050">
              <a:lnSpc>
                <a:spcPct val="115000"/>
              </a:lnSpc>
              <a:spcBef>
                <a:spcPts val="0"/>
              </a:spcBef>
              <a:buClr>
                <a:srgbClr val="595959"/>
              </a:buClr>
              <a:buSzPts val="1800"/>
              <a:buFont typeface="+mj-lt"/>
              <a:buAutoNum type="romanLcPeriod"/>
            </a:pPr>
            <a:r>
              <a:rPr kumimoji="0" lang="en-US" sz="1800" b="1"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sym typeface="Arial"/>
              </a:rPr>
              <a:t>Senior Managers supervise and guide their staff to ensure employees align with the company’s vision and objectives. They provide leadership, mentorship, and direction to help team members develop their skills and perform at their best</a:t>
            </a:r>
            <a:r>
              <a:rPr lang="en-US" sz="1800" b="1" kern="0" dirty="0">
                <a:solidFill>
                  <a:srgbClr val="000000"/>
                </a:solidFill>
                <a:latin typeface="Arial" panose="020B0604020202020204" pitchFamily="34" charset="0"/>
                <a:cs typeface="Arial" panose="020B0604020202020204" pitchFamily="34" charset="0"/>
                <a:sym typeface="Arial"/>
              </a:rPr>
              <a:t>. Approving </a:t>
            </a:r>
            <a:r>
              <a:rPr lang="en-US" sz="1800" b="1" kern="0" dirty="0" smtClean="0">
                <a:solidFill>
                  <a:srgbClr val="000000"/>
                </a:solidFill>
                <a:latin typeface="Arial" panose="020B0604020202020204" pitchFamily="34" charset="0"/>
                <a:cs typeface="Arial" panose="020B0604020202020204" pitchFamily="34" charset="0"/>
                <a:sym typeface="Arial"/>
              </a:rPr>
              <a:t>recruitment </a:t>
            </a:r>
            <a:r>
              <a:rPr lang="en-US" sz="1800" b="1" kern="0" dirty="0">
                <a:solidFill>
                  <a:srgbClr val="000000"/>
                </a:solidFill>
                <a:latin typeface="Arial" panose="020B0604020202020204" pitchFamily="34" charset="0"/>
                <a:cs typeface="Arial" panose="020B0604020202020204" pitchFamily="34" charset="0"/>
                <a:sym typeface="Arial"/>
              </a:rPr>
              <a:t>and termination, </a:t>
            </a:r>
            <a:r>
              <a:rPr lang="en-US" sz="1800" b="1" kern="0" dirty="0" smtClean="0">
                <a:solidFill>
                  <a:srgbClr val="000000"/>
                </a:solidFill>
                <a:latin typeface="Arial" panose="020B0604020202020204" pitchFamily="34" charset="0"/>
                <a:cs typeface="Arial" panose="020B0604020202020204" pitchFamily="34" charset="0"/>
                <a:sym typeface="Arial"/>
              </a:rPr>
              <a:t>developing organizational objectives etc.</a:t>
            </a:r>
            <a:endParaRPr kumimoji="0" lang="en-US" sz="1800" b="1"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sym typeface="Arial"/>
            </a:endParaRPr>
          </a:p>
          <a:p>
            <a:pPr marL="457200" lvl="0" indent="-342900">
              <a:lnSpc>
                <a:spcPct val="115000"/>
              </a:lnSpc>
              <a:spcBef>
                <a:spcPts val="0"/>
              </a:spcBef>
              <a:buClr>
                <a:srgbClr val="595959"/>
              </a:buClr>
              <a:buSzPts val="1800"/>
              <a:buFont typeface="Arial"/>
              <a:buAutoNum type="arabicPeriod"/>
            </a:pPr>
            <a:endParaRPr kumimoji="0" lang="en-US" sz="1800" b="1"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sym typeface="Arial"/>
            </a:endParaRPr>
          </a:p>
          <a:p>
            <a:pPr marL="457200" lvl="0" indent="-342900">
              <a:lnSpc>
                <a:spcPct val="115000"/>
              </a:lnSpc>
              <a:spcBef>
                <a:spcPts val="0"/>
              </a:spcBef>
              <a:buClr>
                <a:srgbClr val="595959"/>
              </a:buClr>
              <a:buSzPts val="1800"/>
              <a:buFont typeface="Arial"/>
              <a:buAutoNum type="arabicPeriod"/>
            </a:pPr>
            <a:r>
              <a:rPr kumimoji="0" lang="en-US" sz="1800" b="1" i="0" u="none" strike="noStrike" kern="0" cap="none" spc="0" normalizeH="0" baseline="0" noProof="0" dirty="0" smtClean="0">
                <a:ln>
                  <a:noFill/>
                </a:ln>
                <a:solidFill>
                  <a:srgbClr val="7030A0"/>
                </a:solidFill>
                <a:effectLst/>
                <a:uLnTx/>
                <a:uFillTx/>
                <a:latin typeface="Avenir Next LT Pro (Body)"/>
                <a:cs typeface="Arial"/>
                <a:sym typeface="Arial"/>
              </a:rPr>
              <a:t> Middle Management</a:t>
            </a:r>
          </a:p>
          <a:p>
            <a:pPr marL="996950" lvl="1" indent="-400050">
              <a:lnSpc>
                <a:spcPct val="115000"/>
              </a:lnSpc>
              <a:spcBef>
                <a:spcPts val="0"/>
              </a:spcBef>
              <a:buClr>
                <a:srgbClr val="595959"/>
              </a:buClr>
              <a:buSzPts val="1400"/>
              <a:buFont typeface="+mj-lt"/>
              <a:buAutoNum type="romanLcPeriod"/>
            </a:pPr>
            <a:r>
              <a:rPr kumimoji="0" lang="en-US" sz="1800" b="1" i="0" u="none" strike="noStrike" kern="0" cap="none" spc="0" normalizeH="0" baseline="0" noProof="0" dirty="0" smtClean="0">
                <a:ln>
                  <a:noFill/>
                </a:ln>
                <a:solidFill>
                  <a:srgbClr val="000000"/>
                </a:solidFill>
                <a:effectLst/>
                <a:uLnTx/>
                <a:uFillTx/>
                <a:latin typeface="Avenir Next LT Pro (Body)"/>
                <a:cs typeface="Arial"/>
                <a:sym typeface="Arial"/>
              </a:rPr>
              <a:t>Scientist &amp; Knowledge Workers</a:t>
            </a:r>
          </a:p>
          <a:p>
            <a:pPr marL="596900" lvl="1" indent="0">
              <a:lnSpc>
                <a:spcPct val="115000"/>
              </a:lnSpc>
              <a:spcBef>
                <a:spcPts val="0"/>
              </a:spcBef>
              <a:buClr>
                <a:srgbClr val="595959"/>
              </a:buClr>
              <a:buSzPts val="1400"/>
              <a:buNone/>
            </a:pPr>
            <a:endParaRPr kumimoji="0" lang="en-US" sz="1800" b="1" i="0" u="none" strike="noStrike" kern="0" cap="none" spc="0" normalizeH="0" baseline="0" noProof="0" dirty="0" smtClean="0">
              <a:ln>
                <a:noFill/>
              </a:ln>
              <a:solidFill>
                <a:srgbClr val="000000"/>
              </a:solidFill>
              <a:effectLst/>
              <a:uLnTx/>
              <a:uFillTx/>
              <a:latin typeface="Avenir Next LT Pro (Body)"/>
              <a:cs typeface="Arial"/>
              <a:sym typeface="Arial"/>
            </a:endParaRPr>
          </a:p>
          <a:p>
            <a:pPr marL="457200" lvl="0" indent="-342900">
              <a:lnSpc>
                <a:spcPct val="115000"/>
              </a:lnSpc>
              <a:spcBef>
                <a:spcPts val="0"/>
              </a:spcBef>
              <a:buClr>
                <a:srgbClr val="595959"/>
              </a:buClr>
              <a:buSzPts val="1800"/>
              <a:buFont typeface="Arial"/>
              <a:buAutoNum type="arabicPeriod"/>
            </a:pPr>
            <a:r>
              <a:rPr kumimoji="0" lang="en-US" sz="1800" b="1" i="0" u="none" strike="noStrike" kern="0" cap="none" spc="0" normalizeH="0" baseline="0" noProof="0" dirty="0" smtClean="0">
                <a:ln>
                  <a:noFill/>
                </a:ln>
                <a:solidFill>
                  <a:srgbClr val="CC0099"/>
                </a:solidFill>
                <a:effectLst/>
                <a:uLnTx/>
                <a:uFillTx/>
                <a:latin typeface="Avenir Next LT Pro (Body)"/>
                <a:cs typeface="Arial"/>
                <a:sym typeface="Arial"/>
              </a:rPr>
              <a:t>Operational Management</a:t>
            </a:r>
          </a:p>
          <a:p>
            <a:pPr marL="996950" lvl="1" indent="-400050">
              <a:lnSpc>
                <a:spcPct val="115000"/>
              </a:lnSpc>
              <a:spcBef>
                <a:spcPts val="0"/>
              </a:spcBef>
              <a:buClr>
                <a:srgbClr val="595959"/>
              </a:buClr>
              <a:buSzPts val="1400"/>
              <a:buFont typeface="+mj-lt"/>
              <a:buAutoNum type="romanLcPeriod"/>
            </a:pPr>
            <a:r>
              <a:rPr kumimoji="0" lang="en-US" sz="1800" b="1" i="0" u="none" strike="noStrike" kern="0" cap="none" spc="0" normalizeH="0" baseline="0" noProof="0" dirty="0" smtClean="0">
                <a:ln>
                  <a:noFill/>
                </a:ln>
                <a:solidFill>
                  <a:srgbClr val="000000"/>
                </a:solidFill>
                <a:effectLst/>
                <a:uLnTx/>
                <a:uFillTx/>
                <a:latin typeface="Avenir Next LT Pro (Body)"/>
                <a:cs typeface="Arial"/>
                <a:sym typeface="Arial"/>
              </a:rPr>
              <a:t>Production &amp; Service Workers</a:t>
            </a:r>
          </a:p>
          <a:p>
            <a:pPr marL="996950" lvl="1" indent="-400050">
              <a:lnSpc>
                <a:spcPct val="115000"/>
              </a:lnSpc>
              <a:spcBef>
                <a:spcPts val="0"/>
              </a:spcBef>
              <a:buClr>
                <a:srgbClr val="595959"/>
              </a:buClr>
              <a:buSzPts val="1400"/>
              <a:buFont typeface="+mj-lt"/>
              <a:buAutoNum type="romanLcPeriod"/>
            </a:pPr>
            <a:r>
              <a:rPr kumimoji="0" lang="en-US" sz="1800" b="1" i="0" u="none" strike="noStrike" kern="0" cap="none" spc="0" normalizeH="0" baseline="0" noProof="0" dirty="0" smtClean="0">
                <a:ln>
                  <a:noFill/>
                </a:ln>
                <a:solidFill>
                  <a:srgbClr val="000000"/>
                </a:solidFill>
                <a:effectLst/>
                <a:uLnTx/>
                <a:uFillTx/>
                <a:latin typeface="Avenir Next LT Pro (Body)"/>
                <a:cs typeface="Arial"/>
                <a:sym typeface="Arial"/>
              </a:rPr>
              <a:t>Data Workers</a:t>
            </a:r>
          </a:p>
          <a:p>
            <a:endParaRPr lang="en-US" dirty="0"/>
          </a:p>
        </p:txBody>
      </p:sp>
    </p:spTree>
    <p:extLst>
      <p:ext uri="{BB962C8B-B14F-4D97-AF65-F5344CB8AC3E}">
        <p14:creationId xmlns:p14="http://schemas.microsoft.com/office/powerpoint/2010/main" val="1837653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solidFill>
                  <a:srgbClr val="0000FF"/>
                </a:solidFill>
                <a:latin typeface="Arial" panose="020B0604020202020204" pitchFamily="34" charset="0"/>
                <a:cs typeface="Arial" panose="020B0604020202020204" pitchFamily="34" charset="0"/>
              </a:rPr>
              <a:t>Strategic Business Objectives of Information System</a:t>
            </a:r>
            <a:endParaRPr lang="en-US" sz="3200" dirty="0">
              <a:solidFill>
                <a:srgbClr val="0000FF"/>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dirty="0"/>
              <a:t>Business firms invest heavily in information </a:t>
            </a:r>
            <a:r>
              <a:rPr lang="en-US" dirty="0" smtClean="0"/>
              <a:t>systems to </a:t>
            </a:r>
            <a:r>
              <a:rPr lang="en-US" dirty="0"/>
              <a:t>achieve </a:t>
            </a:r>
            <a:r>
              <a:rPr lang="en-US" dirty="0">
                <a:solidFill>
                  <a:srgbClr val="C00000"/>
                </a:solidFill>
              </a:rPr>
              <a:t>six </a:t>
            </a:r>
            <a:r>
              <a:rPr lang="en-US" dirty="0"/>
              <a:t>strategic business objectives:</a:t>
            </a:r>
          </a:p>
          <a:p>
            <a:pPr marL="0" indent="0">
              <a:buNone/>
            </a:pPr>
            <a:r>
              <a:rPr lang="en-US" dirty="0"/>
              <a:t>1. Operational excellence</a:t>
            </a:r>
          </a:p>
          <a:p>
            <a:pPr marL="0" indent="0">
              <a:buNone/>
            </a:pPr>
            <a:r>
              <a:rPr lang="en-US" dirty="0"/>
              <a:t>2. New products, services, and business models</a:t>
            </a:r>
          </a:p>
          <a:p>
            <a:pPr marL="0" indent="0">
              <a:buNone/>
            </a:pPr>
            <a:r>
              <a:rPr lang="en-US" dirty="0"/>
              <a:t>3. Customer and supplier intimacy</a:t>
            </a:r>
          </a:p>
          <a:p>
            <a:pPr marL="0" indent="0">
              <a:buNone/>
            </a:pPr>
            <a:r>
              <a:rPr lang="en-US" dirty="0"/>
              <a:t>4. Improved decision making</a:t>
            </a:r>
          </a:p>
          <a:p>
            <a:pPr marL="0" indent="0">
              <a:buNone/>
            </a:pPr>
            <a:r>
              <a:rPr lang="en-US" dirty="0"/>
              <a:t>5. Competitive advantage</a:t>
            </a:r>
          </a:p>
          <a:p>
            <a:pPr marL="0" indent="0">
              <a:buNone/>
            </a:pPr>
            <a:r>
              <a:rPr lang="en-US" dirty="0"/>
              <a:t>6. Survival</a:t>
            </a:r>
          </a:p>
          <a:p>
            <a:endParaRPr lang="en-US" dirty="0"/>
          </a:p>
        </p:txBody>
      </p:sp>
    </p:spTree>
    <p:extLst>
      <p:ext uri="{BB962C8B-B14F-4D97-AF65-F5344CB8AC3E}">
        <p14:creationId xmlns:p14="http://schemas.microsoft.com/office/powerpoint/2010/main" val="3461138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dirty="0">
                <a:solidFill>
                  <a:srgbClr val="0000FF"/>
                </a:solidFill>
                <a:latin typeface="Arial" panose="020B0604020202020204" pitchFamily="34" charset="0"/>
                <a:cs typeface="Arial" panose="020B0604020202020204" pitchFamily="34" charset="0"/>
              </a:rPr>
              <a:t>Strategic Business Objectives of Information </a:t>
            </a:r>
            <a:r>
              <a:rPr lang="en-US" sz="3200" dirty="0" smtClean="0">
                <a:solidFill>
                  <a:srgbClr val="0000FF"/>
                </a:solidFill>
                <a:latin typeface="Arial" panose="020B0604020202020204" pitchFamily="34" charset="0"/>
                <a:cs typeface="Arial" panose="020B0604020202020204" pitchFamily="34" charset="0"/>
              </a:rPr>
              <a:t>System(cont.)</a:t>
            </a:r>
            <a:endParaRPr lang="en-US" dirty="0"/>
          </a:p>
        </p:txBody>
      </p:sp>
      <p:sp>
        <p:nvSpPr>
          <p:cNvPr id="3" name="Content Placeholder 2"/>
          <p:cNvSpPr>
            <a:spLocks noGrp="1"/>
          </p:cNvSpPr>
          <p:nvPr>
            <p:ph idx="1"/>
          </p:nvPr>
        </p:nvSpPr>
        <p:spPr>
          <a:xfrm>
            <a:off x="838200" y="1690688"/>
            <a:ext cx="10515600" cy="4351338"/>
          </a:xfrm>
        </p:spPr>
        <p:txBody>
          <a:bodyPr/>
          <a:lstStyle/>
          <a:p>
            <a:pPr marL="0" indent="0">
              <a:buNone/>
            </a:pPr>
            <a:r>
              <a:rPr lang="en-US" dirty="0" smtClean="0"/>
              <a:t>1. </a:t>
            </a:r>
            <a:r>
              <a:rPr lang="en-US" dirty="0" smtClean="0">
                <a:solidFill>
                  <a:srgbClr val="C00000"/>
                </a:solidFill>
              </a:rPr>
              <a:t>Operational </a:t>
            </a:r>
            <a:r>
              <a:rPr lang="en-US" dirty="0">
                <a:solidFill>
                  <a:srgbClr val="C00000"/>
                </a:solidFill>
              </a:rPr>
              <a:t>excellence: </a:t>
            </a:r>
            <a:endParaRPr lang="en-US" dirty="0" smtClean="0">
              <a:solidFill>
                <a:srgbClr val="C00000"/>
              </a:solidFill>
            </a:endParaRPr>
          </a:p>
          <a:p>
            <a:pPr>
              <a:buFont typeface="Wingdings" panose="05000000000000000000" pitchFamily="2" charset="2"/>
              <a:buChar char="Ø"/>
            </a:pPr>
            <a:r>
              <a:rPr lang="en-US" dirty="0" smtClean="0"/>
              <a:t> </a:t>
            </a:r>
            <a:r>
              <a:rPr lang="en-US" dirty="0"/>
              <a:t>Improvement of efficiency to attain higher profitability </a:t>
            </a:r>
            <a:endParaRPr lang="en-US" dirty="0" smtClean="0"/>
          </a:p>
          <a:p>
            <a:pPr>
              <a:buFont typeface="Wingdings" panose="05000000000000000000" pitchFamily="2" charset="2"/>
              <a:buChar char="Ø"/>
            </a:pPr>
            <a:r>
              <a:rPr lang="en-US" dirty="0" smtClean="0"/>
              <a:t>Information </a:t>
            </a:r>
            <a:r>
              <a:rPr lang="en-US" dirty="0"/>
              <a:t>systems, technology an important tool in achieving greater efficiency and productivity </a:t>
            </a:r>
            <a:endParaRPr lang="en-US" dirty="0" smtClean="0"/>
          </a:p>
          <a:p>
            <a:pPr>
              <a:buFont typeface="Wingdings" panose="05000000000000000000" pitchFamily="2" charset="2"/>
              <a:buChar char="Ø"/>
            </a:pPr>
            <a:r>
              <a:rPr lang="en-US" dirty="0" smtClean="0"/>
              <a:t>Walmart’s </a:t>
            </a:r>
            <a:r>
              <a:rPr lang="en-US" dirty="0"/>
              <a:t>Retail Link system links suppliers to stores for superior replenishment system </a:t>
            </a:r>
          </a:p>
        </p:txBody>
      </p:sp>
    </p:spTree>
    <p:extLst>
      <p:ext uri="{BB962C8B-B14F-4D97-AF65-F5344CB8AC3E}">
        <p14:creationId xmlns:p14="http://schemas.microsoft.com/office/powerpoint/2010/main" val="1528739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0000FF"/>
                </a:solidFill>
                <a:latin typeface="Arial" panose="020B0604020202020204" pitchFamily="34" charset="0"/>
                <a:cs typeface="Arial" panose="020B0604020202020204" pitchFamily="34" charset="0"/>
              </a:rPr>
              <a:t>Strategic Business Objectives of Information System(cont.)</a:t>
            </a:r>
            <a:endParaRPr lang="en-US" dirty="0"/>
          </a:p>
        </p:txBody>
      </p:sp>
      <p:sp>
        <p:nvSpPr>
          <p:cNvPr id="3" name="Content Placeholder 2"/>
          <p:cNvSpPr>
            <a:spLocks noGrp="1"/>
          </p:cNvSpPr>
          <p:nvPr>
            <p:ph idx="1"/>
          </p:nvPr>
        </p:nvSpPr>
        <p:spPr/>
        <p:txBody>
          <a:bodyPr/>
          <a:lstStyle/>
          <a:p>
            <a:pPr marL="0" indent="0">
              <a:buNone/>
            </a:pPr>
            <a:r>
              <a:rPr lang="en-US" dirty="0" smtClean="0"/>
              <a:t>2. New </a:t>
            </a:r>
            <a:r>
              <a:rPr lang="en-US" dirty="0"/>
              <a:t>products, services, and business models: </a:t>
            </a:r>
            <a:endParaRPr lang="en-US" dirty="0" smtClean="0"/>
          </a:p>
          <a:p>
            <a:pPr>
              <a:buFont typeface="Wingdings" panose="05000000000000000000" pitchFamily="2" charset="2"/>
              <a:buChar char="Ø"/>
            </a:pPr>
            <a:r>
              <a:rPr lang="en-US" dirty="0" smtClean="0"/>
              <a:t>Business </a:t>
            </a:r>
            <a:r>
              <a:rPr lang="en-US" dirty="0"/>
              <a:t>model: describes how company produces, delivers, and sells product or service to create wealth </a:t>
            </a:r>
            <a:endParaRPr lang="en-US" dirty="0" smtClean="0"/>
          </a:p>
          <a:p>
            <a:pPr>
              <a:buFont typeface="Wingdings" panose="05000000000000000000" pitchFamily="2" charset="2"/>
              <a:buChar char="Ø"/>
            </a:pPr>
            <a:r>
              <a:rPr lang="en-US" dirty="0" smtClean="0"/>
              <a:t>Information </a:t>
            </a:r>
            <a:r>
              <a:rPr lang="en-US" dirty="0"/>
              <a:t>systems and technology a major enabling tool for new products, services, business models </a:t>
            </a:r>
            <a:endParaRPr lang="en-US" dirty="0" smtClean="0"/>
          </a:p>
          <a:p>
            <a:pPr>
              <a:buFont typeface="Wingdings" panose="05000000000000000000" pitchFamily="2" charset="2"/>
              <a:buChar char="Ø"/>
            </a:pPr>
            <a:r>
              <a:rPr lang="en-US" dirty="0" smtClean="0"/>
              <a:t>Examples</a:t>
            </a:r>
            <a:r>
              <a:rPr lang="en-US" dirty="0"/>
              <a:t>: Apple’s iPad, Google’s Android OS, and Netflix </a:t>
            </a:r>
          </a:p>
        </p:txBody>
      </p:sp>
    </p:spTree>
    <p:extLst>
      <p:ext uri="{BB962C8B-B14F-4D97-AF65-F5344CB8AC3E}">
        <p14:creationId xmlns:p14="http://schemas.microsoft.com/office/powerpoint/2010/main" val="21581730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0000FF"/>
                </a:solidFill>
                <a:latin typeface="Arial" panose="020B0604020202020204" pitchFamily="34" charset="0"/>
                <a:cs typeface="Arial" panose="020B0604020202020204" pitchFamily="34" charset="0"/>
              </a:rPr>
              <a:t>Strategic Business Objectives of Information System(cont.)</a:t>
            </a:r>
            <a:endParaRPr lang="en-US" dirty="0"/>
          </a:p>
        </p:txBody>
      </p:sp>
      <p:sp>
        <p:nvSpPr>
          <p:cNvPr id="3" name="Content Placeholder 2"/>
          <p:cNvSpPr>
            <a:spLocks noGrp="1"/>
          </p:cNvSpPr>
          <p:nvPr>
            <p:ph idx="1"/>
          </p:nvPr>
        </p:nvSpPr>
        <p:spPr/>
        <p:txBody>
          <a:bodyPr/>
          <a:lstStyle/>
          <a:p>
            <a:pPr marL="0" indent="0">
              <a:buNone/>
            </a:pPr>
            <a:r>
              <a:rPr lang="en-US" dirty="0" smtClean="0"/>
              <a:t>3. Customer </a:t>
            </a:r>
            <a:r>
              <a:rPr lang="en-US" dirty="0"/>
              <a:t>and supplier intimacy: </a:t>
            </a:r>
            <a:endParaRPr lang="en-US" dirty="0" smtClean="0"/>
          </a:p>
          <a:p>
            <a:pPr>
              <a:buFont typeface="Wingdings" panose="05000000000000000000" pitchFamily="2" charset="2"/>
              <a:buChar char="Ø"/>
            </a:pPr>
            <a:r>
              <a:rPr lang="en-US" dirty="0" smtClean="0"/>
              <a:t>Serving </a:t>
            </a:r>
            <a:r>
              <a:rPr lang="en-US" dirty="0"/>
              <a:t>customers well leads to customers returning, which raises revenues and profits. </a:t>
            </a:r>
            <a:endParaRPr lang="en-US" dirty="0" smtClean="0"/>
          </a:p>
          <a:p>
            <a:pPr>
              <a:buFont typeface="Wingdings" panose="05000000000000000000" pitchFamily="2" charset="2"/>
              <a:buChar char="Ø"/>
            </a:pPr>
            <a:r>
              <a:rPr lang="en-US" dirty="0" smtClean="0"/>
              <a:t> </a:t>
            </a:r>
            <a:r>
              <a:rPr lang="en-US" dirty="0"/>
              <a:t>Example: High-end hotels that use computers to track customer preferences and used to monitor and customize environment </a:t>
            </a:r>
            <a:endParaRPr lang="en-US" dirty="0" smtClean="0"/>
          </a:p>
          <a:p>
            <a:pPr>
              <a:buFont typeface="Wingdings" panose="05000000000000000000" pitchFamily="2" charset="2"/>
              <a:buChar char="Ø"/>
            </a:pPr>
            <a:r>
              <a:rPr lang="en-US" dirty="0" smtClean="0"/>
              <a:t> </a:t>
            </a:r>
            <a:r>
              <a:rPr lang="en-US" dirty="0"/>
              <a:t>Intimacy with suppliers allows them to provide vital inputs, which lowers costs. </a:t>
            </a:r>
          </a:p>
          <a:p>
            <a:pPr>
              <a:buFont typeface="Wingdings" panose="05000000000000000000" pitchFamily="2" charset="2"/>
              <a:buChar char="Ø"/>
            </a:pPr>
            <a:r>
              <a:rPr lang="en-US" dirty="0" smtClean="0"/>
              <a:t>Example</a:t>
            </a:r>
            <a:r>
              <a:rPr lang="en-US" dirty="0"/>
              <a:t>: </a:t>
            </a:r>
            <a:r>
              <a:rPr lang="en-US" dirty="0" err="1"/>
              <a:t>JCPenney’s</a:t>
            </a:r>
            <a:r>
              <a:rPr lang="en-US" dirty="0"/>
              <a:t> information system which links sales records to contract manufacturer</a:t>
            </a:r>
          </a:p>
        </p:txBody>
      </p:sp>
    </p:spTree>
    <p:extLst>
      <p:ext uri="{BB962C8B-B14F-4D97-AF65-F5344CB8AC3E}">
        <p14:creationId xmlns:p14="http://schemas.microsoft.com/office/powerpoint/2010/main" val="25665622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0000FF"/>
                </a:solidFill>
                <a:latin typeface="Arial" panose="020B0604020202020204" pitchFamily="34" charset="0"/>
                <a:cs typeface="Arial" panose="020B0604020202020204" pitchFamily="34" charset="0"/>
              </a:rPr>
              <a:t>Strategic Business Objectives of Information System(cont.)</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dirty="0" smtClean="0"/>
              <a:t>4. Improved </a:t>
            </a:r>
            <a:r>
              <a:rPr lang="en-US" dirty="0"/>
              <a:t>decision making </a:t>
            </a:r>
            <a:endParaRPr lang="en-US" dirty="0" smtClean="0"/>
          </a:p>
          <a:p>
            <a:pPr>
              <a:buFont typeface="Wingdings" panose="05000000000000000000" pitchFamily="2" charset="2"/>
              <a:buChar char="Ø"/>
            </a:pPr>
            <a:r>
              <a:rPr lang="en-US" dirty="0" smtClean="0"/>
              <a:t>Without </a:t>
            </a:r>
            <a:r>
              <a:rPr lang="en-US" dirty="0"/>
              <a:t>accurate information: </a:t>
            </a:r>
          </a:p>
          <a:p>
            <a:pPr marL="0" indent="0">
              <a:buNone/>
            </a:pPr>
            <a:r>
              <a:rPr lang="en-US" dirty="0" smtClean="0"/>
              <a:t>Managers </a:t>
            </a:r>
            <a:r>
              <a:rPr lang="en-US" dirty="0"/>
              <a:t>must use forecasts, best guesses, luck </a:t>
            </a:r>
            <a:endParaRPr lang="en-US" dirty="0" smtClean="0"/>
          </a:p>
          <a:p>
            <a:pPr marL="0" indent="0">
              <a:buNone/>
            </a:pPr>
            <a:r>
              <a:rPr lang="en-US" dirty="0" smtClean="0"/>
              <a:t>Results </a:t>
            </a:r>
            <a:r>
              <a:rPr lang="en-US" dirty="0"/>
              <a:t>in: </a:t>
            </a:r>
          </a:p>
          <a:p>
            <a:pPr>
              <a:buFont typeface="Wingdings" panose="05000000000000000000" pitchFamily="2" charset="2"/>
              <a:buChar char="Ø"/>
            </a:pPr>
            <a:r>
              <a:rPr lang="en-US" dirty="0" smtClean="0"/>
              <a:t>Overproduction</a:t>
            </a:r>
            <a:r>
              <a:rPr lang="en-US" dirty="0"/>
              <a:t>, underproduction </a:t>
            </a:r>
            <a:r>
              <a:rPr lang="en-US" dirty="0" smtClean="0"/>
              <a:t>,Misallocation </a:t>
            </a:r>
            <a:r>
              <a:rPr lang="en-US" dirty="0"/>
              <a:t>of resources </a:t>
            </a:r>
            <a:r>
              <a:rPr lang="en-US" dirty="0" smtClean="0"/>
              <a:t>, </a:t>
            </a:r>
            <a:r>
              <a:rPr lang="en-US" dirty="0"/>
              <a:t>Poor response times </a:t>
            </a:r>
            <a:endParaRPr lang="en-US" dirty="0" smtClean="0"/>
          </a:p>
          <a:p>
            <a:pPr>
              <a:buFont typeface="Wingdings" panose="05000000000000000000" pitchFamily="2" charset="2"/>
              <a:buChar char="Ø"/>
            </a:pPr>
            <a:r>
              <a:rPr lang="en-US" dirty="0" smtClean="0"/>
              <a:t> </a:t>
            </a:r>
            <a:r>
              <a:rPr lang="en-US" dirty="0"/>
              <a:t>Poor outcomes raise costs, lose customers </a:t>
            </a:r>
            <a:endParaRPr lang="en-US" dirty="0" smtClean="0"/>
          </a:p>
          <a:p>
            <a:pPr marL="0" indent="0">
              <a:buNone/>
            </a:pPr>
            <a:r>
              <a:rPr lang="en-US" dirty="0" smtClean="0"/>
              <a:t>Example</a:t>
            </a:r>
            <a:r>
              <a:rPr lang="en-US" dirty="0"/>
              <a:t>: Verizon’s Web-based digital dashboard to provide managers with real-time data on customer complaints, network performance, line outages, and so </a:t>
            </a:r>
            <a:r>
              <a:rPr lang="en-US" dirty="0" smtClean="0"/>
              <a:t>on.</a:t>
            </a:r>
            <a:endParaRPr lang="en-US" dirty="0"/>
          </a:p>
        </p:txBody>
      </p:sp>
    </p:spTree>
    <p:extLst>
      <p:ext uri="{BB962C8B-B14F-4D97-AF65-F5344CB8AC3E}">
        <p14:creationId xmlns:p14="http://schemas.microsoft.com/office/powerpoint/2010/main" val="9344573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0000FF"/>
                </a:solidFill>
                <a:latin typeface="Arial" panose="020B0604020202020204" pitchFamily="34" charset="0"/>
                <a:cs typeface="Arial" panose="020B0604020202020204" pitchFamily="34" charset="0"/>
              </a:rPr>
              <a:t>Strategic Business Objectives of Information System(cont.)</a:t>
            </a:r>
            <a:endParaRPr lang="en-US" dirty="0"/>
          </a:p>
        </p:txBody>
      </p:sp>
      <p:sp>
        <p:nvSpPr>
          <p:cNvPr id="3" name="Content Placeholder 2"/>
          <p:cNvSpPr>
            <a:spLocks noGrp="1"/>
          </p:cNvSpPr>
          <p:nvPr>
            <p:ph idx="1"/>
          </p:nvPr>
        </p:nvSpPr>
        <p:spPr/>
        <p:txBody>
          <a:bodyPr/>
          <a:lstStyle/>
          <a:p>
            <a:pPr marL="0" indent="0">
              <a:buNone/>
            </a:pPr>
            <a:r>
              <a:rPr lang="en-US" dirty="0" smtClean="0"/>
              <a:t>5. Competitive </a:t>
            </a:r>
            <a:r>
              <a:rPr lang="en-US" dirty="0"/>
              <a:t>advantage </a:t>
            </a:r>
            <a:endParaRPr lang="en-US" dirty="0" smtClean="0"/>
          </a:p>
          <a:p>
            <a:pPr>
              <a:buFont typeface="Wingdings" panose="05000000000000000000" pitchFamily="2" charset="2"/>
              <a:buChar char="Ø"/>
            </a:pPr>
            <a:r>
              <a:rPr lang="en-US" dirty="0" smtClean="0"/>
              <a:t>Delivering </a:t>
            </a:r>
            <a:r>
              <a:rPr lang="en-US" dirty="0"/>
              <a:t>better </a:t>
            </a:r>
            <a:r>
              <a:rPr lang="en-US" dirty="0" smtClean="0"/>
              <a:t>performance</a:t>
            </a:r>
          </a:p>
          <a:p>
            <a:pPr>
              <a:buFont typeface="Wingdings" panose="05000000000000000000" pitchFamily="2" charset="2"/>
              <a:buChar char="Ø"/>
            </a:pPr>
            <a:r>
              <a:rPr lang="en-US" dirty="0" smtClean="0"/>
              <a:t> </a:t>
            </a:r>
            <a:r>
              <a:rPr lang="en-US" dirty="0"/>
              <a:t>Charging less for superior products </a:t>
            </a:r>
            <a:endParaRPr lang="en-US" dirty="0" smtClean="0"/>
          </a:p>
          <a:p>
            <a:pPr>
              <a:buFont typeface="Wingdings" panose="05000000000000000000" pitchFamily="2" charset="2"/>
              <a:buChar char="Ø"/>
            </a:pPr>
            <a:r>
              <a:rPr lang="en-US" dirty="0" smtClean="0"/>
              <a:t> </a:t>
            </a:r>
            <a:r>
              <a:rPr lang="en-US" dirty="0"/>
              <a:t>Responding to customers and suppliers in real time </a:t>
            </a:r>
            <a:endParaRPr lang="en-US" dirty="0" smtClean="0"/>
          </a:p>
          <a:p>
            <a:pPr marL="0" indent="0">
              <a:buNone/>
            </a:pPr>
            <a:r>
              <a:rPr lang="en-US" dirty="0" smtClean="0"/>
              <a:t>Examples</a:t>
            </a:r>
            <a:r>
              <a:rPr lang="en-US" dirty="0"/>
              <a:t>: Apple, Walmart, UPS</a:t>
            </a:r>
          </a:p>
        </p:txBody>
      </p:sp>
    </p:spTree>
    <p:extLst>
      <p:ext uri="{BB962C8B-B14F-4D97-AF65-F5344CB8AC3E}">
        <p14:creationId xmlns:p14="http://schemas.microsoft.com/office/powerpoint/2010/main" val="1443807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0000FF"/>
                </a:solidFill>
                <a:latin typeface="Arial" panose="020B0604020202020204" pitchFamily="34" charset="0"/>
                <a:cs typeface="Arial" panose="020B0604020202020204" pitchFamily="34" charset="0"/>
              </a:rPr>
              <a:t>Strategic Business Objectives of Information System(cont.)</a:t>
            </a:r>
            <a:endParaRPr lang="en-US" dirty="0"/>
          </a:p>
        </p:txBody>
      </p:sp>
      <p:sp>
        <p:nvSpPr>
          <p:cNvPr id="3" name="Content Placeholder 2"/>
          <p:cNvSpPr>
            <a:spLocks noGrp="1"/>
          </p:cNvSpPr>
          <p:nvPr>
            <p:ph idx="1"/>
          </p:nvPr>
        </p:nvSpPr>
        <p:spPr/>
        <p:txBody>
          <a:bodyPr/>
          <a:lstStyle/>
          <a:p>
            <a:pPr marL="0" indent="0">
              <a:buNone/>
            </a:pPr>
            <a:r>
              <a:rPr lang="en-US" dirty="0" smtClean="0"/>
              <a:t>6. Survival </a:t>
            </a:r>
          </a:p>
          <a:p>
            <a:pPr>
              <a:buFont typeface="Wingdings" panose="05000000000000000000" pitchFamily="2" charset="2"/>
              <a:buChar char="Ø"/>
            </a:pPr>
            <a:r>
              <a:rPr lang="en-US" dirty="0" smtClean="0"/>
              <a:t>Information </a:t>
            </a:r>
            <a:r>
              <a:rPr lang="en-US" dirty="0"/>
              <a:t>technologies as necessity of business </a:t>
            </a:r>
            <a:endParaRPr lang="en-US" dirty="0" smtClean="0"/>
          </a:p>
          <a:p>
            <a:pPr>
              <a:buFont typeface="Wingdings" panose="05000000000000000000" pitchFamily="2" charset="2"/>
              <a:buChar char="Ø"/>
            </a:pPr>
            <a:r>
              <a:rPr lang="en-US" dirty="0" smtClean="0"/>
              <a:t>Industry-level </a:t>
            </a:r>
            <a:r>
              <a:rPr lang="en-US" dirty="0"/>
              <a:t>changes </a:t>
            </a:r>
            <a:endParaRPr lang="en-US" dirty="0" smtClean="0"/>
          </a:p>
          <a:p>
            <a:pPr marL="0" indent="0">
              <a:buNone/>
            </a:pPr>
            <a:r>
              <a:rPr lang="en-US" dirty="0" smtClean="0"/>
              <a:t>Example</a:t>
            </a:r>
            <a:r>
              <a:rPr lang="en-US" dirty="0"/>
              <a:t>: Citibank’s introduction of ATMs </a:t>
            </a:r>
            <a:endParaRPr lang="en-US" dirty="0" smtClean="0"/>
          </a:p>
          <a:p>
            <a:pPr>
              <a:buFont typeface="Wingdings" panose="05000000000000000000" pitchFamily="2" charset="2"/>
              <a:buChar char="Ø"/>
            </a:pPr>
            <a:r>
              <a:rPr lang="en-US" dirty="0" smtClean="0"/>
              <a:t>Governmental </a:t>
            </a:r>
            <a:r>
              <a:rPr lang="en-US" dirty="0"/>
              <a:t>regulations requiring recordkeeping </a:t>
            </a:r>
            <a:endParaRPr lang="en-US" dirty="0" smtClean="0"/>
          </a:p>
          <a:p>
            <a:pPr marL="0" indent="0">
              <a:buNone/>
            </a:pPr>
            <a:r>
              <a:rPr lang="en-US" dirty="0" smtClean="0"/>
              <a:t>Examples</a:t>
            </a:r>
            <a:r>
              <a:rPr lang="en-US" dirty="0"/>
              <a:t>: Toxic Substances Control Act, Sarbanes-Oxley Act</a:t>
            </a:r>
          </a:p>
        </p:txBody>
      </p:sp>
    </p:spTree>
    <p:extLst>
      <p:ext uri="{BB962C8B-B14F-4D97-AF65-F5344CB8AC3E}">
        <p14:creationId xmlns:p14="http://schemas.microsoft.com/office/powerpoint/2010/main" val="957015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0000FF"/>
                </a:solidFill>
                <a:latin typeface="Arial" panose="020B0604020202020204" pitchFamily="34" charset="0"/>
                <a:cs typeface="Arial" panose="020B0604020202020204" pitchFamily="34" charset="0"/>
              </a:rPr>
              <a:t>Data and Information</a:t>
            </a:r>
          </a:p>
        </p:txBody>
      </p:sp>
      <p:sp>
        <p:nvSpPr>
          <p:cNvPr id="3" name="Content Placeholder 2"/>
          <p:cNvSpPr>
            <a:spLocks noGrp="1"/>
          </p:cNvSpPr>
          <p:nvPr>
            <p:ph idx="1"/>
          </p:nvPr>
        </p:nvSpPr>
        <p:spPr>
          <a:xfrm>
            <a:off x="838200" y="1325217"/>
            <a:ext cx="10515600" cy="4731026"/>
          </a:xfrm>
        </p:spPr>
        <p:txBody>
          <a:bodyPr>
            <a:normAutofit/>
          </a:bodyPr>
          <a:lstStyle/>
          <a:p>
            <a:r>
              <a:rPr lang="en-US" dirty="0">
                <a:solidFill>
                  <a:srgbClr val="C00000"/>
                </a:solidFill>
              </a:rPr>
              <a:t>Data is a raw and unorganized fact </a:t>
            </a:r>
            <a:r>
              <a:rPr lang="en-US" dirty="0"/>
              <a:t>that is required to be processed to make it meaningful. It can be considered as facts and statistics collected together for reference or analysis. Data does not directly help in decision making</a:t>
            </a:r>
            <a:r>
              <a:rPr lang="en-US" dirty="0" smtClean="0"/>
              <a:t>.</a:t>
            </a:r>
          </a:p>
          <a:p>
            <a:r>
              <a:rPr lang="en-US" dirty="0" smtClean="0"/>
              <a:t>Example: </a:t>
            </a:r>
            <a:r>
              <a:rPr lang="en-US" dirty="0"/>
              <a:t>student test scores</a:t>
            </a:r>
            <a:r>
              <a:rPr lang="en-US" dirty="0" smtClean="0"/>
              <a:t>.</a:t>
            </a:r>
          </a:p>
          <a:p>
            <a:r>
              <a:rPr lang="en-US" dirty="0">
                <a:solidFill>
                  <a:srgbClr val="C00000"/>
                </a:solidFill>
              </a:rPr>
              <a:t>Information refers to processed, organized, and structured data</a:t>
            </a:r>
            <a:r>
              <a:rPr lang="en-US" dirty="0"/>
              <a:t>. It gives context for the facts and facilitates decision making. In other words, information is processed data that makes sense to us. Information directly helps in decision making</a:t>
            </a:r>
            <a:r>
              <a:rPr lang="en-US" dirty="0" smtClean="0"/>
              <a:t>.</a:t>
            </a:r>
          </a:p>
          <a:p>
            <a:r>
              <a:rPr lang="en-US" dirty="0" smtClean="0"/>
              <a:t>Example: Average </a:t>
            </a:r>
            <a:r>
              <a:rPr lang="en-US" dirty="0"/>
              <a:t>score of class that is derived from given data.</a:t>
            </a:r>
            <a:endParaRPr lang="en-US" dirty="0" smtClean="0"/>
          </a:p>
          <a:p>
            <a:endParaRPr lang="en-US" dirty="0"/>
          </a:p>
        </p:txBody>
      </p:sp>
    </p:spTree>
    <p:extLst>
      <p:ext uri="{BB962C8B-B14F-4D97-AF65-F5344CB8AC3E}">
        <p14:creationId xmlns:p14="http://schemas.microsoft.com/office/powerpoint/2010/main" val="18389032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0000FF"/>
                </a:solidFill>
                <a:latin typeface="Arial" panose="020B0604020202020204" pitchFamily="34" charset="0"/>
                <a:cs typeface="Arial" panose="020B0604020202020204" pitchFamily="34" charset="0"/>
              </a:rPr>
              <a:t>Data and </a:t>
            </a:r>
            <a:r>
              <a:rPr lang="en-US" sz="3200" dirty="0" smtClean="0">
                <a:solidFill>
                  <a:srgbClr val="0000FF"/>
                </a:solidFill>
                <a:latin typeface="Arial" panose="020B0604020202020204" pitchFamily="34" charset="0"/>
                <a:cs typeface="Arial" panose="020B0604020202020204" pitchFamily="34" charset="0"/>
              </a:rPr>
              <a:t>Information(Cont.)</a:t>
            </a:r>
            <a:endParaRPr lang="en-US" dirty="0"/>
          </a:p>
        </p:txBody>
      </p:sp>
      <p:sp>
        <p:nvSpPr>
          <p:cNvPr id="3" name="Content Placeholder 2"/>
          <p:cNvSpPr>
            <a:spLocks noGrp="1"/>
          </p:cNvSpPr>
          <p:nvPr>
            <p:ph idx="1"/>
          </p:nvPr>
        </p:nvSpPr>
        <p:spPr>
          <a:xfrm>
            <a:off x="838200" y="1825625"/>
            <a:ext cx="10515600" cy="3554758"/>
          </a:xfrm>
        </p:spPr>
        <p:txBody>
          <a:bodyPr/>
          <a:lstStyle/>
          <a:p>
            <a:endParaRPr lang="en-US" dirty="0"/>
          </a:p>
          <a:p>
            <a:pPr marL="0" indent="0">
              <a:buNone/>
            </a:pPr>
            <a:r>
              <a:rPr lang="en-US" dirty="0"/>
              <a:t>1. Data: Records or Historical Records</a:t>
            </a:r>
          </a:p>
          <a:p>
            <a:pPr marL="0" indent="0">
              <a:buNone/>
            </a:pPr>
            <a:r>
              <a:rPr lang="en-US" dirty="0"/>
              <a:t>2. Information: Processed Data</a:t>
            </a:r>
          </a:p>
          <a:p>
            <a:endParaRPr lang="en-US" dirty="0"/>
          </a:p>
        </p:txBody>
      </p:sp>
      <p:sp>
        <p:nvSpPr>
          <p:cNvPr id="4" name="Google Shape;159;p29">
            <a:extLst>
              <a:ext uri="{FF2B5EF4-FFF2-40B4-BE49-F238E27FC236}">
                <a16:creationId xmlns:a16="http://schemas.microsoft.com/office/drawing/2014/main" id="{A35E3A7F-D169-4467-BD61-5E8A938B462F}"/>
              </a:ext>
            </a:extLst>
          </p:cNvPr>
          <p:cNvSpPr/>
          <p:nvPr/>
        </p:nvSpPr>
        <p:spPr>
          <a:xfrm>
            <a:off x="3115755" y="4235290"/>
            <a:ext cx="1320300" cy="523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b="1" dirty="0">
                <a:latin typeface="Avenir Next LT Pro (Body)"/>
              </a:rPr>
              <a:t>DATA</a:t>
            </a:r>
            <a:endParaRPr b="1" dirty="0">
              <a:latin typeface="Avenir Next LT Pro (Body)"/>
            </a:endParaRPr>
          </a:p>
        </p:txBody>
      </p:sp>
      <p:sp>
        <p:nvSpPr>
          <p:cNvPr id="5" name="Google Shape;161;p29">
            <a:extLst>
              <a:ext uri="{FF2B5EF4-FFF2-40B4-BE49-F238E27FC236}">
                <a16:creationId xmlns:a16="http://schemas.microsoft.com/office/drawing/2014/main" id="{F1F64C78-9DD9-9E8D-BDB1-B63E01FAA094}"/>
              </a:ext>
            </a:extLst>
          </p:cNvPr>
          <p:cNvSpPr/>
          <p:nvPr/>
        </p:nvSpPr>
        <p:spPr>
          <a:xfrm>
            <a:off x="5305486" y="4235290"/>
            <a:ext cx="1913100" cy="523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b="1" dirty="0">
                <a:latin typeface="Avenir Next LT Pro (Body)"/>
              </a:rPr>
              <a:t>PROCESSING</a:t>
            </a:r>
            <a:endParaRPr b="1" dirty="0">
              <a:latin typeface="Avenir Next LT Pro (Body)"/>
            </a:endParaRPr>
          </a:p>
        </p:txBody>
      </p:sp>
      <p:sp>
        <p:nvSpPr>
          <p:cNvPr id="6" name="Google Shape;160;p29">
            <a:extLst>
              <a:ext uri="{FF2B5EF4-FFF2-40B4-BE49-F238E27FC236}">
                <a16:creationId xmlns:a16="http://schemas.microsoft.com/office/drawing/2014/main" id="{C1AC348B-B6A4-4ED3-BCA5-B6CBC79AFB43}"/>
              </a:ext>
            </a:extLst>
          </p:cNvPr>
          <p:cNvSpPr/>
          <p:nvPr/>
        </p:nvSpPr>
        <p:spPr>
          <a:xfrm>
            <a:off x="8121744" y="4219392"/>
            <a:ext cx="2109005" cy="523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b="1" dirty="0">
                <a:latin typeface="Avenir Next LT Pro (Body)"/>
              </a:rPr>
              <a:t>INFORMATION</a:t>
            </a:r>
            <a:endParaRPr b="1" dirty="0">
              <a:latin typeface="Avenir Next LT Pro (Body)"/>
            </a:endParaRPr>
          </a:p>
        </p:txBody>
      </p:sp>
      <p:sp>
        <p:nvSpPr>
          <p:cNvPr id="7" name="TextBox 6"/>
          <p:cNvSpPr txBox="1"/>
          <p:nvPr/>
        </p:nvSpPr>
        <p:spPr>
          <a:xfrm>
            <a:off x="3775905" y="5321697"/>
            <a:ext cx="3182153" cy="369332"/>
          </a:xfrm>
          <a:prstGeom prst="rect">
            <a:avLst/>
          </a:prstGeom>
          <a:noFill/>
        </p:spPr>
        <p:txBody>
          <a:bodyPr wrap="none" rtlCol="0">
            <a:spAutoFit/>
          </a:bodyPr>
          <a:lstStyle/>
          <a:p>
            <a:r>
              <a:rPr lang="en-US"/>
              <a:t>Overview of Data &amp; Information</a:t>
            </a:r>
            <a:endParaRPr lang="en-US" dirty="0"/>
          </a:p>
        </p:txBody>
      </p:sp>
      <p:sp>
        <p:nvSpPr>
          <p:cNvPr id="8" name="Right Arrow 7"/>
          <p:cNvSpPr/>
          <p:nvPr/>
        </p:nvSpPr>
        <p:spPr>
          <a:xfrm flipV="1">
            <a:off x="4436055" y="4435573"/>
            <a:ext cx="869431" cy="2619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p:cNvSpPr/>
          <p:nvPr/>
        </p:nvSpPr>
        <p:spPr>
          <a:xfrm>
            <a:off x="7252313" y="4435573"/>
            <a:ext cx="869431" cy="13642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2988649" y="5321697"/>
            <a:ext cx="684803" cy="369332"/>
          </a:xfrm>
          <a:prstGeom prst="rect">
            <a:avLst/>
          </a:prstGeom>
        </p:spPr>
        <p:txBody>
          <a:bodyPr wrap="none">
            <a:spAutoFit/>
          </a:bodyPr>
          <a:lstStyle/>
          <a:p>
            <a:r>
              <a:rPr lang="en-US" dirty="0"/>
              <a:t>Fig </a:t>
            </a:r>
            <a:r>
              <a:rPr lang="en-US" dirty="0" smtClean="0"/>
              <a:t>4:</a:t>
            </a:r>
            <a:endParaRPr lang="en-US" dirty="0"/>
          </a:p>
        </p:txBody>
      </p:sp>
    </p:spTree>
    <p:extLst>
      <p:ext uri="{BB962C8B-B14F-4D97-AF65-F5344CB8AC3E}">
        <p14:creationId xmlns:p14="http://schemas.microsoft.com/office/powerpoint/2010/main" val="26480114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12139-3C03-A07A-CD1A-53F1A481AE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6186B6-A881-0AC7-379C-DB8D9FD9126C}"/>
              </a:ext>
            </a:extLst>
          </p:cNvPr>
          <p:cNvSpPr>
            <a:spLocks noGrp="1"/>
          </p:cNvSpPr>
          <p:nvPr>
            <p:ph type="title"/>
          </p:nvPr>
        </p:nvSpPr>
        <p:spPr/>
        <p:txBody>
          <a:bodyPr>
            <a:noAutofit/>
          </a:bodyPr>
          <a:lstStyle/>
          <a:p>
            <a:pPr algn="ctr"/>
            <a:r>
              <a:rPr lang="en-US" sz="3200" b="1" dirty="0">
                <a:solidFill>
                  <a:srgbClr val="0000FF"/>
                </a:solidFill>
                <a:latin typeface="Avenir Next LT Pro (Body)"/>
              </a:rPr>
              <a:t>System</a:t>
            </a:r>
            <a:br>
              <a:rPr lang="en-US" sz="3200" b="1" dirty="0">
                <a:solidFill>
                  <a:srgbClr val="0000FF"/>
                </a:solidFill>
                <a:latin typeface="Avenir Next LT Pro (Body)"/>
              </a:rPr>
            </a:br>
            <a:endParaRPr lang="en-US" sz="3200" b="1" dirty="0">
              <a:solidFill>
                <a:srgbClr val="0000FF"/>
              </a:solidFill>
              <a:latin typeface="Avenir Next LT Pro (Body)"/>
            </a:endParaRPr>
          </a:p>
        </p:txBody>
      </p:sp>
      <p:sp>
        <p:nvSpPr>
          <p:cNvPr id="3" name="Text Placeholder 2">
            <a:extLst>
              <a:ext uri="{FF2B5EF4-FFF2-40B4-BE49-F238E27FC236}">
                <a16:creationId xmlns:a16="http://schemas.microsoft.com/office/drawing/2014/main" id="{2FDB3F6D-AD4F-3C40-C58F-48F3029D5839}"/>
              </a:ext>
            </a:extLst>
          </p:cNvPr>
          <p:cNvSpPr>
            <a:spLocks noGrp="1"/>
          </p:cNvSpPr>
          <p:nvPr>
            <p:ph type="body" idx="1"/>
          </p:nvPr>
        </p:nvSpPr>
        <p:spPr>
          <a:xfrm>
            <a:off x="415600" y="1536633"/>
            <a:ext cx="11360800" cy="4885939"/>
          </a:xfrm>
        </p:spPr>
        <p:txBody>
          <a:bodyPr>
            <a:normAutofit/>
          </a:bodyPr>
          <a:lstStyle/>
          <a:p>
            <a:pPr marL="795847" lvl="1" indent="0">
              <a:buNone/>
            </a:pPr>
            <a:endParaRPr lang="en-US" b="1" dirty="0">
              <a:solidFill>
                <a:schemeClr val="tx1"/>
              </a:solidFill>
              <a:latin typeface="Avenir Next LT Pro (Body)"/>
            </a:endParaRPr>
          </a:p>
          <a:p>
            <a:pPr marL="152396" indent="0" algn="just">
              <a:buNone/>
            </a:pPr>
            <a:endParaRPr lang="en-US" b="1" dirty="0">
              <a:solidFill>
                <a:srgbClr val="FF0000"/>
              </a:solidFill>
              <a:latin typeface="Avenir Next LT Pro (Body)"/>
            </a:endParaRPr>
          </a:p>
          <a:p>
            <a:pPr marL="152396" indent="0" algn="just">
              <a:buNone/>
            </a:pPr>
            <a:endParaRPr lang="en-US" sz="2400" b="1" dirty="0">
              <a:solidFill>
                <a:srgbClr val="FF0000"/>
              </a:solidFill>
              <a:latin typeface="Avenir Next LT Pro (Body)"/>
            </a:endParaRPr>
          </a:p>
          <a:p>
            <a:pPr marL="152396" indent="0">
              <a:buNone/>
            </a:pPr>
            <a:endParaRPr lang="en-US" b="1" dirty="0">
              <a:solidFill>
                <a:srgbClr val="FF0000"/>
              </a:solidFill>
              <a:latin typeface="Avenir Next LT Pro (Body)"/>
            </a:endParaRPr>
          </a:p>
        </p:txBody>
      </p:sp>
      <p:sp>
        <p:nvSpPr>
          <p:cNvPr id="4" name="TextBox 3">
            <a:extLst>
              <a:ext uri="{FF2B5EF4-FFF2-40B4-BE49-F238E27FC236}">
                <a16:creationId xmlns:a16="http://schemas.microsoft.com/office/drawing/2014/main" id="{723F1175-FF8D-7A62-041F-8751D0C290E0}"/>
              </a:ext>
            </a:extLst>
          </p:cNvPr>
          <p:cNvSpPr txBox="1"/>
          <p:nvPr/>
        </p:nvSpPr>
        <p:spPr>
          <a:xfrm>
            <a:off x="415600" y="1178825"/>
            <a:ext cx="10711543" cy="5262979"/>
          </a:xfrm>
          <a:prstGeom prst="rect">
            <a:avLst/>
          </a:prstGeom>
          <a:noFill/>
        </p:spPr>
        <p:txBody>
          <a:bodyPr wrap="square" rtlCol="0">
            <a:spAutoFit/>
          </a:bodyPr>
          <a:lstStyle/>
          <a:p>
            <a:endParaRPr lang="en-US" sz="2400" b="1" dirty="0">
              <a:solidFill>
                <a:srgbClr val="FF0000"/>
              </a:solidFill>
              <a:latin typeface="Arial" panose="020B0604020202020204" pitchFamily="34" charset="0"/>
              <a:cs typeface="Arial" panose="020B0604020202020204" pitchFamily="34" charset="0"/>
            </a:endParaRPr>
          </a:p>
          <a:p>
            <a:r>
              <a:rPr lang="en-GB" sz="2400" b="1" dirty="0">
                <a:latin typeface="Arial" panose="020B0604020202020204" pitchFamily="34" charset="0"/>
                <a:cs typeface="Arial" panose="020B0604020202020204" pitchFamily="34" charset="0"/>
              </a:rPr>
              <a:t>A system </a:t>
            </a:r>
            <a:r>
              <a:rPr lang="en-GB" sz="2400" dirty="0">
                <a:latin typeface="Arial" panose="020B0604020202020204" pitchFamily="34" charset="0"/>
                <a:cs typeface="Arial" panose="020B0604020202020204" pitchFamily="34" charset="0"/>
              </a:rPr>
              <a:t>may be defined as </a:t>
            </a:r>
            <a:r>
              <a:rPr lang="en-GB" sz="2400" b="1" dirty="0">
                <a:solidFill>
                  <a:srgbClr val="C00000"/>
                </a:solidFill>
                <a:latin typeface="Arial" panose="020B0604020202020204" pitchFamily="34" charset="0"/>
                <a:cs typeface="Arial" panose="020B0604020202020204" pitchFamily="34" charset="0"/>
              </a:rPr>
              <a:t>a set of elements which are joined together to achieve a common objective</a:t>
            </a:r>
            <a:r>
              <a:rPr lang="en-GB" sz="2400" b="1" dirty="0">
                <a:latin typeface="Arial" panose="020B0604020202020204" pitchFamily="34" charset="0"/>
                <a:cs typeface="Arial" panose="020B0604020202020204" pitchFamily="34" charset="0"/>
              </a:rPr>
              <a:t>.</a:t>
            </a:r>
            <a:r>
              <a:rPr lang="en-GB" sz="2400" dirty="0">
                <a:latin typeface="Arial" panose="020B0604020202020204" pitchFamily="34" charset="0"/>
                <a:cs typeface="Arial" panose="020B0604020202020204" pitchFamily="34" charset="0"/>
              </a:rPr>
              <a:t> The elements are </a:t>
            </a:r>
            <a:r>
              <a:rPr lang="en-GB" sz="2400" b="1" dirty="0">
                <a:latin typeface="Arial" panose="020B0604020202020204" pitchFamily="34" charset="0"/>
                <a:cs typeface="Arial" panose="020B0604020202020204" pitchFamily="34" charset="0"/>
              </a:rPr>
              <a:t>interrelated </a:t>
            </a:r>
            <a:r>
              <a:rPr lang="en-GB" sz="2400" dirty="0">
                <a:latin typeface="Arial" panose="020B0604020202020204" pitchFamily="34" charset="0"/>
                <a:cs typeface="Arial" panose="020B0604020202020204" pitchFamily="34" charset="0"/>
              </a:rPr>
              <a:t>and </a:t>
            </a:r>
            <a:r>
              <a:rPr lang="en-GB" sz="2400" b="1" dirty="0">
                <a:latin typeface="Arial" panose="020B0604020202020204" pitchFamily="34" charset="0"/>
                <a:cs typeface="Arial" panose="020B0604020202020204" pitchFamily="34" charset="0"/>
              </a:rPr>
              <a:t>interdependent</a:t>
            </a:r>
            <a:r>
              <a:rPr lang="en-GB" sz="2400" dirty="0">
                <a:latin typeface="Arial" panose="020B0604020202020204" pitchFamily="34" charset="0"/>
                <a:cs typeface="Arial" panose="020B0604020202020204" pitchFamily="34" charset="0"/>
              </a:rPr>
              <a:t>.</a:t>
            </a:r>
          </a:p>
          <a:p>
            <a:endParaRPr lang="en-GB" sz="2400" b="1" dirty="0">
              <a:latin typeface="Arial" panose="020B0604020202020204" pitchFamily="34" charset="0"/>
              <a:cs typeface="Arial" panose="020B0604020202020204" pitchFamily="34" charset="0"/>
            </a:endParaRPr>
          </a:p>
          <a:p>
            <a:pPr algn="just"/>
            <a:r>
              <a:rPr lang="en-US" sz="2400" dirty="0">
                <a:latin typeface="Arial" panose="020B0604020202020204" pitchFamily="34" charset="0"/>
                <a:cs typeface="Arial" panose="020B0604020202020204" pitchFamily="34" charset="0"/>
              </a:rPr>
              <a:t>The set of elements for a system may be understood as </a:t>
            </a:r>
            <a:r>
              <a:rPr lang="en-US" sz="2400" b="1" dirty="0">
                <a:latin typeface="Arial" panose="020B0604020202020204" pitchFamily="34" charset="0"/>
                <a:cs typeface="Arial" panose="020B0604020202020204" pitchFamily="34" charset="0"/>
              </a:rPr>
              <a:t>input, process, and output</a:t>
            </a:r>
            <a:r>
              <a:rPr lang="en-US" sz="2400" dirty="0">
                <a:latin typeface="Arial" panose="020B0604020202020204" pitchFamily="34" charset="0"/>
                <a:cs typeface="Arial" panose="020B0604020202020204" pitchFamily="34" charset="0"/>
              </a:rPr>
              <a:t>. A system has </a:t>
            </a:r>
            <a:r>
              <a:rPr lang="en-US" sz="2400" b="1" dirty="0">
                <a:latin typeface="Arial" panose="020B0604020202020204" pitchFamily="34" charset="0"/>
                <a:cs typeface="Arial" panose="020B0604020202020204" pitchFamily="34" charset="0"/>
              </a:rPr>
              <a:t>multiple inputs</a:t>
            </a:r>
            <a:r>
              <a:rPr lang="en-US" sz="2400" dirty="0">
                <a:latin typeface="Arial" panose="020B0604020202020204" pitchFamily="34" charset="0"/>
                <a:cs typeface="Arial" panose="020B0604020202020204" pitchFamily="34" charset="0"/>
              </a:rPr>
              <a:t>; these inputs are processed through a transformation process to convert these inputs into outputs. </a:t>
            </a:r>
          </a:p>
          <a:p>
            <a:pPr algn="just"/>
            <a:endParaRPr lang="en-US" sz="2400" dirty="0">
              <a:latin typeface="Arial" panose="020B0604020202020204" pitchFamily="34" charset="0"/>
              <a:cs typeface="Arial" panose="020B0604020202020204" pitchFamily="34" charset="0"/>
            </a:endParaRPr>
          </a:p>
          <a:p>
            <a:pPr algn="just"/>
            <a:r>
              <a:rPr lang="en-US" sz="2400" dirty="0">
                <a:latin typeface="Arial" panose="020B0604020202020204" pitchFamily="34" charset="0"/>
                <a:cs typeface="Arial" panose="020B0604020202020204" pitchFamily="34" charset="0"/>
              </a:rPr>
              <a:t>The </a:t>
            </a:r>
            <a:r>
              <a:rPr lang="en-US" sz="2400" b="1" dirty="0">
                <a:latin typeface="Arial" panose="020B0604020202020204" pitchFamily="34" charset="0"/>
                <a:cs typeface="Arial" panose="020B0604020202020204" pitchFamily="34" charset="0"/>
              </a:rPr>
              <a:t>three elements </a:t>
            </a:r>
            <a:r>
              <a:rPr lang="en-US" sz="2400" dirty="0">
                <a:latin typeface="Arial" panose="020B0604020202020204" pitchFamily="34" charset="0"/>
                <a:cs typeface="Arial" panose="020B0604020202020204" pitchFamily="34" charset="0"/>
              </a:rPr>
              <a:t>of a system are shown as follows:</a:t>
            </a:r>
          </a:p>
          <a:p>
            <a:pPr marL="457189" indent="-457189" algn="just">
              <a:buAutoNum type="arabicPeriod"/>
            </a:pPr>
            <a:r>
              <a:rPr lang="en-US" sz="2400" b="1" dirty="0">
                <a:latin typeface="Arial" panose="020B0604020202020204" pitchFamily="34" charset="0"/>
                <a:cs typeface="Arial" panose="020B0604020202020204" pitchFamily="34" charset="0"/>
              </a:rPr>
              <a:t>Input </a:t>
            </a:r>
          </a:p>
          <a:p>
            <a:pPr marL="457189" indent="-457189" algn="just">
              <a:buAutoNum type="arabicPeriod"/>
            </a:pPr>
            <a:r>
              <a:rPr lang="en-US" sz="2400" b="1" dirty="0">
                <a:latin typeface="Arial" panose="020B0604020202020204" pitchFamily="34" charset="0"/>
                <a:cs typeface="Arial" panose="020B0604020202020204" pitchFamily="34" charset="0"/>
              </a:rPr>
              <a:t>Process</a:t>
            </a:r>
          </a:p>
          <a:p>
            <a:pPr marL="457189" indent="-457189" algn="just">
              <a:buAutoNum type="arabicPeriod"/>
            </a:pPr>
            <a:r>
              <a:rPr lang="en-US" sz="2400" b="1" dirty="0">
                <a:latin typeface="Arial" panose="020B0604020202020204" pitchFamily="34" charset="0"/>
                <a:cs typeface="Arial" panose="020B0604020202020204" pitchFamily="34" charset="0"/>
              </a:rPr>
              <a:t>Output</a:t>
            </a:r>
          </a:p>
          <a:p>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756280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6983" y="802447"/>
            <a:ext cx="10515600" cy="1325563"/>
          </a:xfrm>
        </p:spPr>
        <p:txBody>
          <a:bodyPr>
            <a:normAutofit fontScale="90000"/>
          </a:bodyPr>
          <a:lstStyle/>
          <a:p>
            <a:pPr marL="228600" lvl="0" indent="-228600">
              <a:spcBef>
                <a:spcPts val="1000"/>
              </a:spcBef>
            </a:pPr>
            <a:r>
              <a:rPr lang="en-US" sz="3600" dirty="0">
                <a:solidFill>
                  <a:srgbClr val="0000FF"/>
                </a:solidFill>
                <a:latin typeface="Arial" panose="020B0604020202020204" pitchFamily="34" charset="0"/>
                <a:ea typeface="+mn-ea"/>
                <a:cs typeface="Arial" panose="020B0604020202020204" pitchFamily="34" charset="0"/>
              </a:rPr>
              <a:t>Three activities of information systems produce information organizations need </a:t>
            </a:r>
            <a:r>
              <a:rPr lang="en-US" sz="2800" dirty="0">
                <a:solidFill>
                  <a:prstClr val="black"/>
                </a:solidFill>
                <a:latin typeface="Calibri" panose="020F0502020204030204"/>
                <a:ea typeface="+mn-ea"/>
                <a:cs typeface="+mn-cs"/>
              </a:rPr>
              <a:t/>
            </a:r>
            <a:br>
              <a:rPr lang="en-US" sz="2800" dirty="0">
                <a:solidFill>
                  <a:prstClr val="black"/>
                </a:solidFill>
                <a:latin typeface="Calibri" panose="020F0502020204030204"/>
                <a:ea typeface="+mn-ea"/>
                <a:cs typeface="+mn-cs"/>
              </a:rPr>
            </a:br>
            <a:endParaRPr lang="en-US" dirty="0"/>
          </a:p>
        </p:txBody>
      </p:sp>
      <p:sp>
        <p:nvSpPr>
          <p:cNvPr id="3" name="Content Placeholder 2"/>
          <p:cNvSpPr>
            <a:spLocks noGrp="1"/>
          </p:cNvSpPr>
          <p:nvPr>
            <p:ph idx="1"/>
          </p:nvPr>
        </p:nvSpPr>
        <p:spPr>
          <a:xfrm>
            <a:off x="838200" y="2008740"/>
            <a:ext cx="10515600" cy="4351338"/>
          </a:xfrm>
        </p:spPr>
        <p:txBody>
          <a:bodyPr/>
          <a:lstStyle/>
          <a:p>
            <a:pPr marL="0" indent="0">
              <a:buNone/>
            </a:pPr>
            <a:r>
              <a:rPr lang="en-US" dirty="0" smtClean="0">
                <a:solidFill>
                  <a:srgbClr val="C00000"/>
                </a:solidFill>
              </a:rPr>
              <a:t>Input</a:t>
            </a:r>
            <a:r>
              <a:rPr lang="en-US" dirty="0">
                <a:solidFill>
                  <a:srgbClr val="C00000"/>
                </a:solidFill>
              </a:rPr>
              <a:t>: </a:t>
            </a:r>
            <a:r>
              <a:rPr lang="en-US" dirty="0"/>
              <a:t>Captures raw data from organization or external </a:t>
            </a:r>
            <a:r>
              <a:rPr lang="en-US" dirty="0" smtClean="0"/>
              <a:t>environment</a:t>
            </a:r>
          </a:p>
          <a:p>
            <a:pPr marL="0" indent="0">
              <a:buNone/>
            </a:pPr>
            <a:r>
              <a:rPr lang="en-US" dirty="0" smtClean="0">
                <a:solidFill>
                  <a:srgbClr val="C00000"/>
                </a:solidFill>
              </a:rPr>
              <a:t>Processing</a:t>
            </a:r>
            <a:r>
              <a:rPr lang="en-US" dirty="0">
                <a:solidFill>
                  <a:srgbClr val="C00000"/>
                </a:solidFill>
              </a:rPr>
              <a:t>: </a:t>
            </a:r>
            <a:r>
              <a:rPr lang="en-US" dirty="0"/>
              <a:t>Converts raw data into meaningful form </a:t>
            </a:r>
            <a:endParaRPr lang="en-US" dirty="0" smtClean="0"/>
          </a:p>
          <a:p>
            <a:pPr marL="0" indent="0">
              <a:buNone/>
            </a:pPr>
            <a:r>
              <a:rPr lang="en-US" dirty="0" smtClean="0">
                <a:solidFill>
                  <a:srgbClr val="C00000"/>
                </a:solidFill>
              </a:rPr>
              <a:t>Output</a:t>
            </a:r>
            <a:r>
              <a:rPr lang="en-US" dirty="0">
                <a:solidFill>
                  <a:srgbClr val="C00000"/>
                </a:solidFill>
              </a:rPr>
              <a:t>: </a:t>
            </a:r>
            <a:r>
              <a:rPr lang="en-US" dirty="0"/>
              <a:t>Transfers processed information to people or activities that use </a:t>
            </a:r>
            <a:r>
              <a:rPr lang="en-US" dirty="0" smtClean="0"/>
              <a:t>it.</a:t>
            </a:r>
          </a:p>
        </p:txBody>
      </p:sp>
    </p:spTree>
    <p:extLst>
      <p:ext uri="{BB962C8B-B14F-4D97-AF65-F5344CB8AC3E}">
        <p14:creationId xmlns:p14="http://schemas.microsoft.com/office/powerpoint/2010/main" val="12703601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8BA78-F5A9-C668-DD2A-B50A5E90B9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7E734B-F39A-8C24-5480-67355D645365}"/>
              </a:ext>
            </a:extLst>
          </p:cNvPr>
          <p:cNvSpPr>
            <a:spLocks noGrp="1"/>
          </p:cNvSpPr>
          <p:nvPr>
            <p:ph type="title"/>
          </p:nvPr>
        </p:nvSpPr>
        <p:spPr/>
        <p:txBody>
          <a:bodyPr>
            <a:noAutofit/>
          </a:bodyPr>
          <a:lstStyle/>
          <a:p>
            <a:r>
              <a:rPr lang="en-US" sz="3200" b="1" dirty="0">
                <a:solidFill>
                  <a:srgbClr val="0000FF"/>
                </a:solidFill>
                <a:latin typeface="Arial" panose="020B0604020202020204" pitchFamily="34" charset="0"/>
                <a:cs typeface="Arial" panose="020B0604020202020204" pitchFamily="34" charset="0"/>
              </a:rPr>
              <a:t>Various Function of Information System</a:t>
            </a:r>
            <a:br>
              <a:rPr lang="en-US" sz="3200" b="1" dirty="0">
                <a:solidFill>
                  <a:srgbClr val="0000FF"/>
                </a:solidFill>
                <a:latin typeface="Arial" panose="020B0604020202020204" pitchFamily="34" charset="0"/>
                <a:cs typeface="Arial" panose="020B0604020202020204" pitchFamily="34" charset="0"/>
              </a:rPr>
            </a:br>
            <a:endParaRPr lang="en-US" sz="3200" b="1" dirty="0">
              <a:solidFill>
                <a:srgbClr val="0000FF"/>
              </a:solidFill>
              <a:latin typeface="Arial" panose="020B0604020202020204" pitchFamily="34" charset="0"/>
              <a:cs typeface="Arial" panose="020B0604020202020204" pitchFamily="34" charset="0"/>
            </a:endParaRPr>
          </a:p>
        </p:txBody>
      </p:sp>
      <p:sp>
        <p:nvSpPr>
          <p:cNvPr id="3" name="Text Placeholder 2">
            <a:extLst>
              <a:ext uri="{FF2B5EF4-FFF2-40B4-BE49-F238E27FC236}">
                <a16:creationId xmlns:a16="http://schemas.microsoft.com/office/drawing/2014/main" id="{8F29AD2A-4AAA-2CB8-449C-88C712CD6D4E}"/>
              </a:ext>
            </a:extLst>
          </p:cNvPr>
          <p:cNvSpPr>
            <a:spLocks noGrp="1"/>
          </p:cNvSpPr>
          <p:nvPr>
            <p:ph type="body" idx="1"/>
          </p:nvPr>
        </p:nvSpPr>
        <p:spPr>
          <a:xfrm>
            <a:off x="415600" y="1536633"/>
            <a:ext cx="11360800" cy="4885939"/>
          </a:xfrm>
        </p:spPr>
        <p:txBody>
          <a:bodyPr>
            <a:normAutofit/>
          </a:bodyPr>
          <a:lstStyle/>
          <a:p>
            <a:pPr marL="795847" lvl="1" indent="0">
              <a:buNone/>
            </a:pPr>
            <a:endParaRPr lang="en-US" b="1" dirty="0">
              <a:solidFill>
                <a:schemeClr val="tx1"/>
              </a:solidFill>
              <a:latin typeface="Avenir Next LT Pro (Body)"/>
            </a:endParaRPr>
          </a:p>
          <a:p>
            <a:pPr marL="152396" indent="0" algn="just">
              <a:buNone/>
            </a:pPr>
            <a:endParaRPr lang="en-US" b="1" dirty="0">
              <a:solidFill>
                <a:srgbClr val="FF0000"/>
              </a:solidFill>
              <a:latin typeface="Avenir Next LT Pro (Body)"/>
            </a:endParaRPr>
          </a:p>
          <a:p>
            <a:pPr marL="152396" indent="0" algn="just">
              <a:buNone/>
            </a:pPr>
            <a:endParaRPr lang="en-US" sz="2400" b="1" dirty="0">
              <a:solidFill>
                <a:srgbClr val="FF0000"/>
              </a:solidFill>
              <a:latin typeface="Avenir Next LT Pro (Body)"/>
            </a:endParaRPr>
          </a:p>
          <a:p>
            <a:pPr marL="152396" indent="0">
              <a:buNone/>
            </a:pPr>
            <a:endParaRPr lang="en-US" b="1" dirty="0">
              <a:solidFill>
                <a:srgbClr val="FF0000"/>
              </a:solidFill>
              <a:latin typeface="Avenir Next LT Pro (Body)"/>
            </a:endParaRPr>
          </a:p>
        </p:txBody>
      </p:sp>
      <p:sp>
        <p:nvSpPr>
          <p:cNvPr id="7" name="TextBox 6">
            <a:extLst>
              <a:ext uri="{FF2B5EF4-FFF2-40B4-BE49-F238E27FC236}">
                <a16:creationId xmlns:a16="http://schemas.microsoft.com/office/drawing/2014/main" id="{32295AF5-00B5-2F56-BB9A-1CB0DC5D3854}"/>
              </a:ext>
            </a:extLst>
          </p:cNvPr>
          <p:cNvSpPr txBox="1"/>
          <p:nvPr/>
        </p:nvSpPr>
        <p:spPr>
          <a:xfrm>
            <a:off x="415600" y="1536633"/>
            <a:ext cx="11166799" cy="5262979"/>
          </a:xfrm>
          <a:prstGeom prst="rect">
            <a:avLst/>
          </a:prstGeom>
          <a:noFill/>
        </p:spPr>
        <p:txBody>
          <a:bodyPr wrap="square" rtlCol="0">
            <a:spAutoFit/>
          </a:bodyPr>
          <a:lstStyle/>
          <a:p>
            <a:pPr marL="609585" indent="-445758">
              <a:buSzPct val="112500"/>
              <a:buChar char="●"/>
            </a:pPr>
            <a:r>
              <a:rPr lang="en-US" sz="2400" dirty="0"/>
              <a:t>An information system contains information about an organization and its surrounding environment.</a:t>
            </a:r>
          </a:p>
          <a:p>
            <a:pPr marL="163827">
              <a:buSzPct val="112500"/>
            </a:pPr>
            <a:endParaRPr lang="en-US" sz="2400" dirty="0"/>
          </a:p>
          <a:p>
            <a:pPr marL="609585" indent="-445758">
              <a:buSzPct val="112500"/>
              <a:buChar char="●"/>
            </a:pPr>
            <a:r>
              <a:rPr lang="en-US" sz="2400" dirty="0"/>
              <a:t>Three basic activities—</a:t>
            </a:r>
            <a:r>
              <a:rPr lang="en-US" sz="2400" b="1" dirty="0"/>
              <a:t>input, processing, and output</a:t>
            </a:r>
            <a:r>
              <a:rPr lang="en-US" sz="2400" dirty="0"/>
              <a:t>—produce the information organizations need.</a:t>
            </a:r>
          </a:p>
          <a:p>
            <a:pPr marL="163827">
              <a:buSzPct val="112500"/>
            </a:pPr>
            <a:endParaRPr lang="en-US" sz="2400" dirty="0"/>
          </a:p>
          <a:p>
            <a:pPr marL="609585" indent="-445758">
              <a:buSzPct val="112500"/>
              <a:buChar char="●"/>
            </a:pPr>
            <a:r>
              <a:rPr lang="en-US" sz="2400" b="1" dirty="0"/>
              <a:t>Feedback</a:t>
            </a:r>
            <a:r>
              <a:rPr lang="en-US" sz="2400" dirty="0"/>
              <a:t> is output returned to appropriate people or activities in the organization to evaluate and refine the input. </a:t>
            </a:r>
          </a:p>
          <a:p>
            <a:pPr marL="163827">
              <a:buSzPct val="112500"/>
            </a:pPr>
            <a:endParaRPr lang="en-US" sz="2400" dirty="0"/>
          </a:p>
          <a:p>
            <a:pPr marL="609585" indent="-445758">
              <a:buSzPct val="112500"/>
              <a:buChar char="●"/>
            </a:pPr>
            <a:r>
              <a:rPr lang="en-US" sz="2400" b="1" dirty="0"/>
              <a:t>Environmental actors, such as customers, suppliers, competitors, stockholders, and regulatory agencies</a:t>
            </a:r>
            <a:r>
              <a:rPr lang="en-US" sz="2400" dirty="0"/>
              <a:t>, interact with the organization and its information systems.</a:t>
            </a:r>
          </a:p>
          <a:p>
            <a:endParaRPr lang="en-US" sz="2400" dirty="0"/>
          </a:p>
          <a:p>
            <a:endParaRPr lang="en-US" sz="2400" dirty="0"/>
          </a:p>
          <a:p>
            <a:endParaRPr lang="en-US" sz="2400" dirty="0"/>
          </a:p>
        </p:txBody>
      </p:sp>
    </p:spTree>
    <p:extLst>
      <p:ext uri="{BB962C8B-B14F-4D97-AF65-F5344CB8AC3E}">
        <p14:creationId xmlns:p14="http://schemas.microsoft.com/office/powerpoint/2010/main" val="40828940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0B5AE-EACD-18D8-F616-1F50D434FE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06231E-9AEA-614F-4394-B752EE6313EE}"/>
              </a:ext>
            </a:extLst>
          </p:cNvPr>
          <p:cNvSpPr>
            <a:spLocks noGrp="1"/>
          </p:cNvSpPr>
          <p:nvPr>
            <p:ph type="title"/>
          </p:nvPr>
        </p:nvSpPr>
        <p:spPr>
          <a:xfrm>
            <a:off x="254256" y="413114"/>
            <a:ext cx="11360800" cy="763600"/>
          </a:xfrm>
        </p:spPr>
        <p:txBody>
          <a:bodyPr>
            <a:noAutofit/>
          </a:bodyPr>
          <a:lstStyle/>
          <a:p>
            <a:r>
              <a:rPr lang="en-US" sz="3200" b="1" dirty="0">
                <a:solidFill>
                  <a:srgbClr val="0000FF"/>
                </a:solidFill>
                <a:latin typeface="Arial" panose="020B0604020202020204" pitchFamily="34" charset="0"/>
                <a:cs typeface="Arial" panose="020B0604020202020204" pitchFamily="34" charset="0"/>
              </a:rPr>
              <a:t>Various Functions of Information System</a:t>
            </a:r>
            <a:br>
              <a:rPr lang="en-US" sz="3200" b="1" dirty="0">
                <a:solidFill>
                  <a:srgbClr val="0000FF"/>
                </a:solidFill>
                <a:latin typeface="Arial" panose="020B0604020202020204" pitchFamily="34" charset="0"/>
                <a:cs typeface="Arial" panose="020B0604020202020204" pitchFamily="34" charset="0"/>
              </a:rPr>
            </a:br>
            <a:endParaRPr lang="en-US" sz="3200" b="1" dirty="0">
              <a:solidFill>
                <a:srgbClr val="0000FF"/>
              </a:solidFill>
              <a:latin typeface="Arial" panose="020B0604020202020204" pitchFamily="34" charset="0"/>
              <a:cs typeface="Arial" panose="020B0604020202020204" pitchFamily="34" charset="0"/>
            </a:endParaRPr>
          </a:p>
        </p:txBody>
      </p:sp>
      <p:sp>
        <p:nvSpPr>
          <p:cNvPr id="3" name="Text Placeholder 2">
            <a:extLst>
              <a:ext uri="{FF2B5EF4-FFF2-40B4-BE49-F238E27FC236}">
                <a16:creationId xmlns:a16="http://schemas.microsoft.com/office/drawing/2014/main" id="{2374612E-C6B2-3A90-37E0-13A11EE8B283}"/>
              </a:ext>
            </a:extLst>
          </p:cNvPr>
          <p:cNvSpPr>
            <a:spLocks noGrp="1"/>
          </p:cNvSpPr>
          <p:nvPr>
            <p:ph type="body" idx="1"/>
          </p:nvPr>
        </p:nvSpPr>
        <p:spPr>
          <a:xfrm>
            <a:off x="415600" y="1536633"/>
            <a:ext cx="11360800" cy="4885939"/>
          </a:xfrm>
        </p:spPr>
        <p:txBody>
          <a:bodyPr>
            <a:normAutofit/>
          </a:bodyPr>
          <a:lstStyle/>
          <a:p>
            <a:pPr marL="795847" lvl="1" indent="0">
              <a:buNone/>
            </a:pPr>
            <a:endParaRPr lang="en-US" b="1" dirty="0">
              <a:solidFill>
                <a:schemeClr val="tx1"/>
              </a:solidFill>
              <a:latin typeface="Avenir Next LT Pro (Body)"/>
            </a:endParaRPr>
          </a:p>
          <a:p>
            <a:pPr marL="152396" indent="0" algn="just">
              <a:buNone/>
            </a:pPr>
            <a:endParaRPr lang="en-US" b="1" dirty="0">
              <a:solidFill>
                <a:srgbClr val="FF0000"/>
              </a:solidFill>
              <a:latin typeface="Avenir Next LT Pro (Body)"/>
            </a:endParaRPr>
          </a:p>
          <a:p>
            <a:pPr marL="152396" indent="0" algn="just">
              <a:buNone/>
            </a:pPr>
            <a:endParaRPr lang="en-US" sz="2400" b="1" dirty="0">
              <a:solidFill>
                <a:srgbClr val="FF0000"/>
              </a:solidFill>
              <a:latin typeface="Avenir Next LT Pro (Body)"/>
            </a:endParaRPr>
          </a:p>
          <a:p>
            <a:pPr marL="152396" indent="0">
              <a:buNone/>
            </a:pPr>
            <a:endParaRPr lang="en-US" b="1" dirty="0">
              <a:solidFill>
                <a:srgbClr val="FF0000"/>
              </a:solidFill>
              <a:latin typeface="Avenir Next LT Pro (Body)"/>
            </a:endParaRPr>
          </a:p>
        </p:txBody>
      </p:sp>
      <p:sp>
        <p:nvSpPr>
          <p:cNvPr id="4" name="TextBox 3">
            <a:extLst>
              <a:ext uri="{FF2B5EF4-FFF2-40B4-BE49-F238E27FC236}">
                <a16:creationId xmlns:a16="http://schemas.microsoft.com/office/drawing/2014/main" id="{22033639-DE3D-D065-DCF1-AC282DCB7465}"/>
              </a:ext>
            </a:extLst>
          </p:cNvPr>
          <p:cNvSpPr txBox="1"/>
          <p:nvPr/>
        </p:nvSpPr>
        <p:spPr>
          <a:xfrm>
            <a:off x="-293866" y="1437382"/>
            <a:ext cx="11166800" cy="789896"/>
          </a:xfrm>
          <a:prstGeom prst="rect">
            <a:avLst/>
          </a:prstGeom>
          <a:noFill/>
        </p:spPr>
        <p:txBody>
          <a:bodyPr wrap="square" rtlCol="0">
            <a:spAutoFit/>
          </a:bodyPr>
          <a:lstStyle/>
          <a:p>
            <a:pPr marL="152396">
              <a:buSzPts val="1800"/>
            </a:pPr>
            <a:endParaRPr lang="en-US" sz="2400" b="1" dirty="0">
              <a:solidFill>
                <a:srgbClr val="FF0000"/>
              </a:solidFill>
              <a:latin typeface="Avenir Next LT Pro (Body)"/>
            </a:endParaRPr>
          </a:p>
          <a:p>
            <a:endParaRPr lang="en-US" sz="2133" b="1" dirty="0">
              <a:latin typeface="Avenir Next LT Pro (Body)"/>
            </a:endParaRPr>
          </a:p>
        </p:txBody>
      </p:sp>
      <p:sp>
        <p:nvSpPr>
          <p:cNvPr id="6" name="Google Shape;144;p27">
            <a:extLst>
              <a:ext uri="{FF2B5EF4-FFF2-40B4-BE49-F238E27FC236}">
                <a16:creationId xmlns:a16="http://schemas.microsoft.com/office/drawing/2014/main" id="{B854F02D-F09C-C903-B794-F424DA3F12D0}"/>
              </a:ext>
            </a:extLst>
          </p:cNvPr>
          <p:cNvSpPr txBox="1"/>
          <p:nvPr/>
        </p:nvSpPr>
        <p:spPr>
          <a:xfrm>
            <a:off x="2450792" y="5674902"/>
            <a:ext cx="6205141" cy="597200"/>
          </a:xfrm>
          <a:prstGeom prst="rect">
            <a:avLst/>
          </a:prstGeom>
          <a:noFill/>
          <a:ln>
            <a:noFill/>
          </a:ln>
        </p:spPr>
        <p:txBody>
          <a:bodyPr spcFirstLastPara="1" wrap="square" lIns="121900" tIns="121900" rIns="121900" bIns="121900" anchor="t" anchorCtr="0">
            <a:noAutofit/>
          </a:bodyPr>
          <a:lstStyle/>
          <a:p>
            <a:pPr algn="ctr"/>
            <a:r>
              <a:rPr lang="en-GB" sz="2000" b="1" dirty="0">
                <a:solidFill>
                  <a:schemeClr val="dk2"/>
                </a:solidFill>
                <a:latin typeface="Avenir Next LT Pro (Body)"/>
              </a:rPr>
              <a:t>Fig </a:t>
            </a:r>
            <a:r>
              <a:rPr lang="en-GB" sz="2000" b="1" dirty="0" smtClean="0">
                <a:solidFill>
                  <a:schemeClr val="dk2"/>
                </a:solidFill>
                <a:latin typeface="Avenir Next LT Pro (Body)"/>
              </a:rPr>
              <a:t>5: </a:t>
            </a:r>
            <a:r>
              <a:rPr lang="en-GB" sz="2000" b="1" dirty="0">
                <a:solidFill>
                  <a:schemeClr val="dk2"/>
                </a:solidFill>
                <a:latin typeface="Avenir Next LT Pro (Body)"/>
              </a:rPr>
              <a:t>Various Functions of Information System</a:t>
            </a:r>
            <a:endParaRPr sz="2000" b="1" dirty="0">
              <a:solidFill>
                <a:schemeClr val="dk2"/>
              </a:solidFill>
              <a:latin typeface="Avenir Next LT Pro (Body)"/>
            </a:endParaRPr>
          </a:p>
        </p:txBody>
      </p:sp>
      <p:pic>
        <p:nvPicPr>
          <p:cNvPr id="7" name="Google Shape;188;p32">
            <a:extLst>
              <a:ext uri="{FF2B5EF4-FFF2-40B4-BE49-F238E27FC236}">
                <a16:creationId xmlns:a16="http://schemas.microsoft.com/office/drawing/2014/main" id="{0DB87C94-B318-FE40-C7CF-E08BEFF8BED9}"/>
              </a:ext>
            </a:extLst>
          </p:cNvPr>
          <p:cNvPicPr preferRelativeResize="0"/>
          <p:nvPr/>
        </p:nvPicPr>
        <p:blipFill>
          <a:blip r:embed="rId2">
            <a:alphaModFix/>
          </a:blip>
          <a:stretch>
            <a:fillRect/>
          </a:stretch>
        </p:blipFill>
        <p:spPr>
          <a:xfrm>
            <a:off x="2501884" y="1536633"/>
            <a:ext cx="5575300" cy="3987800"/>
          </a:xfrm>
          <a:prstGeom prst="rect">
            <a:avLst/>
          </a:prstGeom>
          <a:noFill/>
          <a:ln>
            <a:noFill/>
          </a:ln>
        </p:spPr>
      </p:pic>
    </p:spTree>
    <p:extLst>
      <p:ext uri="{BB962C8B-B14F-4D97-AF65-F5344CB8AC3E}">
        <p14:creationId xmlns:p14="http://schemas.microsoft.com/office/powerpoint/2010/main" val="37522501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D19DF-A83E-47D4-36D5-217FC7B486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32D580-921B-33D3-8B72-750E98EE272B}"/>
              </a:ext>
            </a:extLst>
          </p:cNvPr>
          <p:cNvSpPr>
            <a:spLocks noGrp="1"/>
          </p:cNvSpPr>
          <p:nvPr>
            <p:ph type="title"/>
          </p:nvPr>
        </p:nvSpPr>
        <p:spPr/>
        <p:txBody>
          <a:bodyPr>
            <a:noAutofit/>
          </a:bodyPr>
          <a:lstStyle/>
          <a:p>
            <a:r>
              <a:rPr lang="en-US" sz="3200" b="1" dirty="0">
                <a:solidFill>
                  <a:srgbClr val="0000FF"/>
                </a:solidFill>
                <a:latin typeface="Arial" panose="020B0604020202020204" pitchFamily="34" charset="0"/>
                <a:cs typeface="Arial" panose="020B0604020202020204" pitchFamily="34" charset="0"/>
              </a:rPr>
              <a:t>Various Functions of Information System</a:t>
            </a:r>
            <a:br>
              <a:rPr lang="en-US" sz="3200" b="1" dirty="0">
                <a:solidFill>
                  <a:srgbClr val="0000FF"/>
                </a:solidFill>
                <a:latin typeface="Arial" panose="020B0604020202020204" pitchFamily="34" charset="0"/>
                <a:cs typeface="Arial" panose="020B0604020202020204" pitchFamily="34" charset="0"/>
              </a:rPr>
            </a:br>
            <a:endParaRPr lang="en-US" sz="3200" b="1" dirty="0">
              <a:solidFill>
                <a:srgbClr val="0000FF"/>
              </a:solidFill>
              <a:latin typeface="Arial" panose="020B0604020202020204" pitchFamily="34" charset="0"/>
              <a:cs typeface="Arial" panose="020B0604020202020204" pitchFamily="34" charset="0"/>
            </a:endParaRPr>
          </a:p>
        </p:txBody>
      </p:sp>
      <p:sp>
        <p:nvSpPr>
          <p:cNvPr id="3" name="Text Placeholder 2">
            <a:extLst>
              <a:ext uri="{FF2B5EF4-FFF2-40B4-BE49-F238E27FC236}">
                <a16:creationId xmlns:a16="http://schemas.microsoft.com/office/drawing/2014/main" id="{1690F06D-0EDD-BC30-CA22-548C1B2A6F54}"/>
              </a:ext>
            </a:extLst>
          </p:cNvPr>
          <p:cNvSpPr>
            <a:spLocks noGrp="1"/>
          </p:cNvSpPr>
          <p:nvPr>
            <p:ph type="body" idx="1"/>
          </p:nvPr>
        </p:nvSpPr>
        <p:spPr>
          <a:xfrm>
            <a:off x="415600" y="1536633"/>
            <a:ext cx="11360800" cy="4885939"/>
          </a:xfrm>
        </p:spPr>
        <p:txBody>
          <a:bodyPr>
            <a:normAutofit/>
          </a:bodyPr>
          <a:lstStyle/>
          <a:p>
            <a:pPr marL="795847" lvl="1" indent="0">
              <a:buNone/>
            </a:pPr>
            <a:endParaRPr lang="en-US" b="1" dirty="0">
              <a:solidFill>
                <a:schemeClr val="tx1"/>
              </a:solidFill>
              <a:latin typeface="Avenir Next LT Pro (Body)"/>
            </a:endParaRPr>
          </a:p>
          <a:p>
            <a:pPr marL="152396" indent="0" algn="just">
              <a:buNone/>
            </a:pPr>
            <a:endParaRPr lang="en-US" b="1" dirty="0">
              <a:solidFill>
                <a:srgbClr val="FF0000"/>
              </a:solidFill>
              <a:latin typeface="Avenir Next LT Pro (Body)"/>
            </a:endParaRPr>
          </a:p>
          <a:p>
            <a:pPr marL="152396" indent="0" algn="just">
              <a:buNone/>
            </a:pPr>
            <a:endParaRPr lang="en-US" sz="2400" b="1" dirty="0">
              <a:solidFill>
                <a:srgbClr val="FF0000"/>
              </a:solidFill>
              <a:latin typeface="Avenir Next LT Pro (Body)"/>
            </a:endParaRPr>
          </a:p>
          <a:p>
            <a:pPr marL="152396" indent="0">
              <a:buNone/>
            </a:pPr>
            <a:endParaRPr lang="en-US" b="1" dirty="0">
              <a:solidFill>
                <a:srgbClr val="FF0000"/>
              </a:solidFill>
              <a:latin typeface="Avenir Next LT Pro (Body)"/>
            </a:endParaRPr>
          </a:p>
        </p:txBody>
      </p:sp>
      <p:sp>
        <p:nvSpPr>
          <p:cNvPr id="4" name="TextBox 3">
            <a:extLst>
              <a:ext uri="{FF2B5EF4-FFF2-40B4-BE49-F238E27FC236}">
                <a16:creationId xmlns:a16="http://schemas.microsoft.com/office/drawing/2014/main" id="{5C863B2D-D5C6-C764-3E7C-304B89AFACFC}"/>
              </a:ext>
            </a:extLst>
          </p:cNvPr>
          <p:cNvSpPr txBox="1"/>
          <p:nvPr/>
        </p:nvSpPr>
        <p:spPr>
          <a:xfrm>
            <a:off x="751115" y="1416895"/>
            <a:ext cx="10863941" cy="789896"/>
          </a:xfrm>
          <a:prstGeom prst="rect">
            <a:avLst/>
          </a:prstGeom>
          <a:noFill/>
        </p:spPr>
        <p:txBody>
          <a:bodyPr wrap="square" rtlCol="0">
            <a:spAutoFit/>
          </a:bodyPr>
          <a:lstStyle/>
          <a:p>
            <a:pPr marL="152396">
              <a:buSzPts val="1800"/>
            </a:pPr>
            <a:endParaRPr lang="en-US" sz="2400" b="1" dirty="0">
              <a:solidFill>
                <a:srgbClr val="FF0000"/>
              </a:solidFill>
              <a:latin typeface="Avenir Next LT Pro (Body)"/>
            </a:endParaRPr>
          </a:p>
          <a:p>
            <a:endParaRPr lang="en-US" sz="2133" b="1" dirty="0">
              <a:latin typeface="Avenir Next LT Pro (Body)"/>
            </a:endParaRPr>
          </a:p>
        </p:txBody>
      </p:sp>
      <p:sp>
        <p:nvSpPr>
          <p:cNvPr id="8" name="TextBox 7">
            <a:extLst>
              <a:ext uri="{FF2B5EF4-FFF2-40B4-BE49-F238E27FC236}">
                <a16:creationId xmlns:a16="http://schemas.microsoft.com/office/drawing/2014/main" id="{CAA2CDC7-595E-426B-1DCF-804DB5A346CA}"/>
              </a:ext>
            </a:extLst>
          </p:cNvPr>
          <p:cNvSpPr txBox="1"/>
          <p:nvPr/>
        </p:nvSpPr>
        <p:spPr>
          <a:xfrm>
            <a:off x="415600" y="1225689"/>
            <a:ext cx="10863941" cy="5632311"/>
          </a:xfrm>
          <a:prstGeom prst="rect">
            <a:avLst/>
          </a:prstGeom>
          <a:noFill/>
        </p:spPr>
        <p:txBody>
          <a:bodyPr wrap="square">
            <a:spAutoFit/>
          </a:bodyPr>
          <a:lstStyle/>
          <a:p>
            <a:pPr marL="609585" indent="-465655" algn="just">
              <a:buSzPts val="1900"/>
              <a:buChar char="●"/>
            </a:pPr>
            <a:r>
              <a:rPr lang="en-US" sz="2400" dirty="0">
                <a:latin typeface="Avenir Next LT Pro (Body)"/>
              </a:rPr>
              <a:t>One of the most widely used bases for organizing activities in almost every organization is the business function. </a:t>
            </a:r>
          </a:p>
          <a:p>
            <a:pPr marL="609585" indent="-465655" algn="just">
              <a:buSzPts val="1900"/>
              <a:buChar char="●"/>
            </a:pPr>
            <a:endParaRPr lang="en-US" sz="2400" dirty="0">
              <a:latin typeface="Avenir Next LT Pro (Body)"/>
            </a:endParaRPr>
          </a:p>
          <a:p>
            <a:pPr marL="609585" indent="-465655" algn="just">
              <a:buSzPts val="1900"/>
              <a:buChar char="●"/>
            </a:pPr>
            <a:r>
              <a:rPr lang="en-US" sz="2400" dirty="0">
                <a:latin typeface="Avenir Next LT Pro (Body)"/>
              </a:rPr>
              <a:t>Business activities are grouped around functions such as production, marketing, finance personnel, etc... Resulting in the respective department or an area of the business organization. These departments or functional areas are commonly known as the functional areas of business. </a:t>
            </a:r>
          </a:p>
          <a:p>
            <a:pPr marL="609585" indent="-465655" algn="just">
              <a:buSzPts val="1900"/>
              <a:buChar char="●"/>
            </a:pPr>
            <a:endParaRPr lang="en-US" sz="2400" dirty="0">
              <a:latin typeface="Avenir Next LT Pro (Body)"/>
            </a:endParaRPr>
          </a:p>
          <a:p>
            <a:pPr marL="609585" indent="-465655" algn="just">
              <a:buSzPts val="1900"/>
              <a:buChar char="●"/>
            </a:pPr>
            <a:r>
              <a:rPr lang="en-US" sz="2400" dirty="0">
                <a:latin typeface="Avenir Next LT Pro (Body)"/>
              </a:rPr>
              <a:t>There is no standard classification of such sub-system in an organization, but a typical set of functions in a </a:t>
            </a:r>
            <a:r>
              <a:rPr lang="en-US" sz="2400" b="1" dirty="0">
                <a:latin typeface="Avenir Next LT Pro (Body)"/>
              </a:rPr>
              <a:t>manufacturing organization </a:t>
            </a:r>
            <a:r>
              <a:rPr lang="en-US" sz="2400" dirty="0">
                <a:latin typeface="Avenir Next LT Pro (Body)"/>
              </a:rPr>
              <a:t>includes:</a:t>
            </a:r>
          </a:p>
          <a:p>
            <a:pPr marL="1219170" lvl="1" indent="-440256" algn="just">
              <a:buSzPts val="1600"/>
              <a:buChar char="○"/>
            </a:pPr>
            <a:r>
              <a:rPr lang="en-US" sz="2400" dirty="0">
                <a:latin typeface="Avenir Next LT Pro (Body)"/>
              </a:rPr>
              <a:t>Production</a:t>
            </a:r>
          </a:p>
          <a:p>
            <a:pPr marL="1219170" lvl="1" indent="-440256" algn="just">
              <a:buSzPts val="1600"/>
              <a:buChar char="○"/>
            </a:pPr>
            <a:r>
              <a:rPr lang="en-US" sz="2400" dirty="0">
                <a:latin typeface="Avenir Next LT Pro (Body)"/>
              </a:rPr>
              <a:t>Marketing</a:t>
            </a:r>
          </a:p>
          <a:p>
            <a:pPr marL="1219170" lvl="1" indent="-440256" algn="just">
              <a:buSzPts val="1600"/>
              <a:buChar char="○"/>
            </a:pPr>
            <a:r>
              <a:rPr lang="en-US" sz="2400" dirty="0">
                <a:latin typeface="Avenir Next LT Pro (Body)"/>
              </a:rPr>
              <a:t>Finance and accounting</a:t>
            </a:r>
          </a:p>
          <a:p>
            <a:pPr marL="1219170" lvl="1" indent="-440256" algn="just">
              <a:buSzPts val="1600"/>
              <a:buChar char="○"/>
            </a:pPr>
            <a:r>
              <a:rPr lang="en-US" sz="2400" dirty="0">
                <a:latin typeface="Avenir Next LT Pro (Body)"/>
              </a:rPr>
              <a:t>Materials and</a:t>
            </a:r>
          </a:p>
          <a:p>
            <a:pPr marL="1219170" lvl="1" indent="-440256" algn="just">
              <a:buSzPts val="1600"/>
              <a:buChar char="○"/>
            </a:pPr>
            <a:r>
              <a:rPr lang="en-US" sz="2400" dirty="0">
                <a:latin typeface="Avenir Next LT Pro (Body)"/>
              </a:rPr>
              <a:t>Personnel systems</a:t>
            </a:r>
          </a:p>
        </p:txBody>
      </p:sp>
    </p:spTree>
    <p:extLst>
      <p:ext uri="{BB962C8B-B14F-4D97-AF65-F5344CB8AC3E}">
        <p14:creationId xmlns:p14="http://schemas.microsoft.com/office/powerpoint/2010/main" val="12309125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4"/>
          <p:cNvSpPr txBox="1">
            <a:spLocks noGrp="1"/>
          </p:cNvSpPr>
          <p:nvPr>
            <p:ph type="title"/>
          </p:nvPr>
        </p:nvSpPr>
        <p:spPr>
          <a:xfrm>
            <a:off x="508365" y="209054"/>
            <a:ext cx="11360800" cy="763600"/>
          </a:xfrm>
          <a:prstGeom prst="rect">
            <a:avLst/>
          </a:prstGeom>
        </p:spPr>
        <p:txBody>
          <a:bodyPr spcFirstLastPara="1" vert="horz" wrap="square" lIns="121900" tIns="121900" rIns="121900" bIns="121900" rtlCol="0" anchor="t" anchorCtr="0">
            <a:normAutofit/>
          </a:bodyPr>
          <a:lstStyle/>
          <a:p>
            <a:r>
              <a:rPr lang="en-GB" sz="3200" dirty="0">
                <a:latin typeface="Arial" panose="020B0604020202020204" pitchFamily="34" charset="0"/>
                <a:cs typeface="Arial" panose="020B0604020202020204" pitchFamily="34" charset="0"/>
              </a:rPr>
              <a:t>Various Functions of Information Systems</a:t>
            </a:r>
            <a:endParaRPr sz="3200" dirty="0">
              <a:latin typeface="Arial" panose="020B0604020202020204" pitchFamily="34" charset="0"/>
              <a:cs typeface="Arial" panose="020B0604020202020204" pitchFamily="34" charset="0"/>
            </a:endParaRPr>
          </a:p>
        </p:txBody>
      </p:sp>
      <p:graphicFrame>
        <p:nvGraphicFramePr>
          <p:cNvPr id="201" name="Google Shape;201;p34"/>
          <p:cNvGraphicFramePr/>
          <p:nvPr>
            <p:extLst>
              <p:ext uri="{D42A27DB-BD31-4B8C-83A1-F6EECF244321}">
                <p14:modId xmlns:p14="http://schemas.microsoft.com/office/powerpoint/2010/main" val="1966409361"/>
              </p:ext>
            </p:extLst>
          </p:nvPr>
        </p:nvGraphicFramePr>
        <p:xfrm>
          <a:off x="627034" y="2577533"/>
          <a:ext cx="4416633" cy="3523288"/>
        </p:xfrm>
        <a:graphic>
          <a:graphicData uri="http://schemas.openxmlformats.org/drawingml/2006/table">
            <a:tbl>
              <a:tblPr>
                <a:noFill/>
              </a:tblPr>
              <a:tblGrid>
                <a:gridCol w="4416633">
                  <a:extLst>
                    <a:ext uri="{9D8B030D-6E8A-4147-A177-3AD203B41FA5}">
                      <a16:colId xmlns:a16="http://schemas.microsoft.com/office/drawing/2014/main" val="20000"/>
                    </a:ext>
                  </a:extLst>
                </a:gridCol>
              </a:tblGrid>
              <a:tr h="627848">
                <a:tc>
                  <a:txBody>
                    <a:bodyPr/>
                    <a:lstStyle/>
                    <a:p>
                      <a:pPr marL="0" lvl="0" indent="0" algn="l" rtl="0">
                        <a:lnSpc>
                          <a:spcPct val="105000"/>
                        </a:lnSpc>
                        <a:spcBef>
                          <a:spcPts val="0"/>
                        </a:spcBef>
                        <a:spcAft>
                          <a:spcPts val="1200"/>
                        </a:spcAft>
                        <a:buNone/>
                      </a:pPr>
                      <a:r>
                        <a:rPr lang="en-GB" sz="2400" b="1" dirty="0">
                          <a:solidFill>
                            <a:schemeClr val="tx1"/>
                          </a:solidFill>
                          <a:latin typeface="Avenir Next LT Pro (Body)"/>
                        </a:rPr>
                        <a:t>Production </a:t>
                      </a:r>
                      <a:r>
                        <a:rPr lang="en-GB" sz="1500" b="1" dirty="0">
                          <a:solidFill>
                            <a:schemeClr val="tx1"/>
                          </a:solidFill>
                        </a:rPr>
                        <a:t>(</a:t>
                      </a:r>
                      <a:r>
                        <a:rPr lang="as-IN" sz="1500" b="1" i="0" u="none" strike="noStrike" cap="none" dirty="0">
                          <a:solidFill>
                            <a:schemeClr val="tx1"/>
                          </a:solidFill>
                          <a:effectLst/>
                          <a:latin typeface="Arial"/>
                          <a:ea typeface="Arial"/>
                          <a:cs typeface="Arial"/>
                          <a:sym typeface="Arial"/>
                        </a:rPr>
                        <a:t>উত্‍পাদন</a:t>
                      </a:r>
                      <a:r>
                        <a:rPr lang="en-GB" sz="1500" b="1" dirty="0">
                          <a:solidFill>
                            <a:schemeClr val="tx1"/>
                          </a:solidFill>
                        </a:rPr>
                        <a:t>)</a:t>
                      </a:r>
                      <a:endParaRPr sz="1500" b="1" dirty="0">
                        <a:solidFill>
                          <a:schemeClr val="tx1"/>
                        </a:solidFill>
                        <a:latin typeface="Avenir Next LT Pro (Body)"/>
                      </a:endParaRPr>
                    </a:p>
                  </a:txBody>
                  <a:tcPr marL="121900" marR="121900" marT="121900" marB="121900"/>
                </a:tc>
                <a:extLst>
                  <a:ext uri="{0D108BD9-81ED-4DB2-BD59-A6C34878D82A}">
                    <a16:rowId xmlns:a16="http://schemas.microsoft.com/office/drawing/2014/main" val="10000"/>
                  </a:ext>
                </a:extLst>
              </a:tr>
              <a:tr h="1011896">
                <a:tc>
                  <a:txBody>
                    <a:bodyPr/>
                    <a:lstStyle/>
                    <a:p>
                      <a:pPr marL="0" lvl="0" indent="0" algn="l" rtl="0">
                        <a:lnSpc>
                          <a:spcPct val="105000"/>
                        </a:lnSpc>
                        <a:spcBef>
                          <a:spcPts val="0"/>
                        </a:spcBef>
                        <a:spcAft>
                          <a:spcPts val="1200"/>
                        </a:spcAft>
                        <a:buNone/>
                      </a:pPr>
                      <a:r>
                        <a:rPr lang="en-GB" sz="2400" dirty="0">
                          <a:solidFill>
                            <a:schemeClr val="tx1"/>
                          </a:solidFill>
                          <a:latin typeface="Avenir Next LT Pro (Body)"/>
                        </a:rPr>
                        <a:t>Production planning and control</a:t>
                      </a:r>
                      <a:endParaRPr sz="2400" dirty="0">
                        <a:solidFill>
                          <a:schemeClr val="tx1"/>
                        </a:solidFill>
                        <a:latin typeface="Avenir Next LT Pro (Body)"/>
                      </a:endParaRPr>
                    </a:p>
                  </a:txBody>
                  <a:tcPr marL="121900" marR="121900" marT="121900" marB="121900"/>
                </a:tc>
                <a:extLst>
                  <a:ext uri="{0D108BD9-81ED-4DB2-BD59-A6C34878D82A}">
                    <a16:rowId xmlns:a16="http://schemas.microsoft.com/office/drawing/2014/main" val="10001"/>
                  </a:ext>
                </a:extLst>
              </a:tr>
              <a:tr h="627848">
                <a:tc>
                  <a:txBody>
                    <a:bodyPr/>
                    <a:lstStyle/>
                    <a:p>
                      <a:pPr marL="0" lvl="0" indent="0" algn="l" rtl="0">
                        <a:lnSpc>
                          <a:spcPct val="105000"/>
                        </a:lnSpc>
                        <a:spcBef>
                          <a:spcPts val="0"/>
                        </a:spcBef>
                        <a:spcAft>
                          <a:spcPts val="1200"/>
                        </a:spcAft>
                        <a:buNone/>
                      </a:pPr>
                      <a:r>
                        <a:rPr lang="en-GB" sz="2400" dirty="0">
                          <a:solidFill>
                            <a:schemeClr val="tx1"/>
                          </a:solidFill>
                          <a:latin typeface="Avenir Next LT Pro (Body)"/>
                        </a:rPr>
                        <a:t>Engineering standards</a:t>
                      </a:r>
                      <a:endParaRPr sz="2400" dirty="0">
                        <a:solidFill>
                          <a:schemeClr val="tx1"/>
                        </a:solidFill>
                        <a:latin typeface="Avenir Next LT Pro (Body)"/>
                      </a:endParaRPr>
                    </a:p>
                  </a:txBody>
                  <a:tcPr marL="121900" marR="121900" marT="121900" marB="121900"/>
                </a:tc>
                <a:extLst>
                  <a:ext uri="{0D108BD9-81ED-4DB2-BD59-A6C34878D82A}">
                    <a16:rowId xmlns:a16="http://schemas.microsoft.com/office/drawing/2014/main" val="10002"/>
                  </a:ext>
                </a:extLst>
              </a:tr>
              <a:tr h="627848">
                <a:tc>
                  <a:txBody>
                    <a:bodyPr/>
                    <a:lstStyle/>
                    <a:p>
                      <a:pPr marL="0" lvl="0" indent="0" algn="l" rtl="0">
                        <a:lnSpc>
                          <a:spcPct val="105000"/>
                        </a:lnSpc>
                        <a:spcBef>
                          <a:spcPts val="0"/>
                        </a:spcBef>
                        <a:spcAft>
                          <a:spcPts val="1200"/>
                        </a:spcAft>
                        <a:buNone/>
                      </a:pPr>
                      <a:r>
                        <a:rPr lang="en-GB" sz="2400" dirty="0">
                          <a:solidFill>
                            <a:schemeClr val="tx1"/>
                          </a:solidFill>
                          <a:latin typeface="Avenir Next LT Pro (Body)"/>
                        </a:rPr>
                        <a:t>Quality control</a:t>
                      </a:r>
                      <a:endParaRPr sz="2400" dirty="0">
                        <a:solidFill>
                          <a:schemeClr val="tx1"/>
                        </a:solidFill>
                        <a:latin typeface="Avenir Next LT Pro (Body)"/>
                      </a:endParaRPr>
                    </a:p>
                  </a:txBody>
                  <a:tcPr marL="121900" marR="121900" marT="121900" marB="121900"/>
                </a:tc>
                <a:extLst>
                  <a:ext uri="{0D108BD9-81ED-4DB2-BD59-A6C34878D82A}">
                    <a16:rowId xmlns:a16="http://schemas.microsoft.com/office/drawing/2014/main" val="10003"/>
                  </a:ext>
                </a:extLst>
              </a:tr>
              <a:tr h="627848">
                <a:tc>
                  <a:txBody>
                    <a:bodyPr/>
                    <a:lstStyle/>
                    <a:p>
                      <a:pPr marL="0" lvl="0" indent="0" algn="l" rtl="0">
                        <a:lnSpc>
                          <a:spcPct val="105000"/>
                        </a:lnSpc>
                        <a:spcBef>
                          <a:spcPts val="0"/>
                        </a:spcBef>
                        <a:spcAft>
                          <a:spcPts val="1200"/>
                        </a:spcAft>
                        <a:buNone/>
                      </a:pPr>
                      <a:r>
                        <a:rPr lang="en-GB" sz="2400" dirty="0">
                          <a:solidFill>
                            <a:schemeClr val="tx1"/>
                          </a:solidFill>
                          <a:latin typeface="Avenir Next LT Pro (Body)"/>
                        </a:rPr>
                        <a:t>R &amp; D etc</a:t>
                      </a:r>
                      <a:endParaRPr sz="2400" dirty="0">
                        <a:solidFill>
                          <a:schemeClr val="tx1"/>
                        </a:solidFill>
                        <a:latin typeface="Avenir Next LT Pro (Body)"/>
                      </a:endParaRPr>
                    </a:p>
                  </a:txBody>
                  <a:tcPr marL="121900" marR="121900" marT="121900" marB="121900"/>
                </a:tc>
                <a:extLst>
                  <a:ext uri="{0D108BD9-81ED-4DB2-BD59-A6C34878D82A}">
                    <a16:rowId xmlns:a16="http://schemas.microsoft.com/office/drawing/2014/main" val="10004"/>
                  </a:ext>
                </a:extLst>
              </a:tr>
            </a:tbl>
          </a:graphicData>
        </a:graphic>
      </p:graphicFrame>
      <p:graphicFrame>
        <p:nvGraphicFramePr>
          <p:cNvPr id="202" name="Google Shape;202;p34"/>
          <p:cNvGraphicFramePr/>
          <p:nvPr>
            <p:extLst>
              <p:ext uri="{D42A27DB-BD31-4B8C-83A1-F6EECF244321}">
                <p14:modId xmlns:p14="http://schemas.microsoft.com/office/powerpoint/2010/main" val="1039684993"/>
              </p:ext>
            </p:extLst>
          </p:nvPr>
        </p:nvGraphicFramePr>
        <p:xfrm>
          <a:off x="6480313" y="846283"/>
          <a:ext cx="4268363" cy="6278480"/>
        </p:xfrm>
        <a:graphic>
          <a:graphicData uri="http://schemas.openxmlformats.org/drawingml/2006/table">
            <a:tbl>
              <a:tblPr>
                <a:noFill/>
              </a:tblPr>
              <a:tblGrid>
                <a:gridCol w="4268363">
                  <a:extLst>
                    <a:ext uri="{9D8B030D-6E8A-4147-A177-3AD203B41FA5}">
                      <a16:colId xmlns:a16="http://schemas.microsoft.com/office/drawing/2014/main" val="20000"/>
                    </a:ext>
                  </a:extLst>
                </a:gridCol>
              </a:tblGrid>
              <a:tr h="578403">
                <a:tc>
                  <a:txBody>
                    <a:bodyPr/>
                    <a:lstStyle/>
                    <a:p>
                      <a:pPr marL="0" lvl="0" indent="0" algn="l" rtl="0">
                        <a:lnSpc>
                          <a:spcPct val="105000"/>
                        </a:lnSpc>
                        <a:spcBef>
                          <a:spcPts val="0"/>
                        </a:spcBef>
                        <a:spcAft>
                          <a:spcPts val="1200"/>
                        </a:spcAft>
                        <a:buNone/>
                      </a:pPr>
                      <a:r>
                        <a:rPr lang="en-GB" sz="2400" b="1" dirty="0">
                          <a:solidFill>
                            <a:schemeClr val="tx1"/>
                          </a:solidFill>
                          <a:latin typeface="Avenir Next LT Pro (Body)"/>
                        </a:rPr>
                        <a:t>Marketing (</a:t>
                      </a:r>
                      <a:r>
                        <a:rPr lang="en-GB" sz="2400" b="1" dirty="0" err="1">
                          <a:solidFill>
                            <a:schemeClr val="tx1"/>
                          </a:solidFill>
                          <a:latin typeface="Avenir Next LT Pro (Body)"/>
                        </a:rPr>
                        <a:t>ব্যবসা</a:t>
                      </a:r>
                      <a:r>
                        <a:rPr lang="en-GB" sz="2400" b="1" dirty="0">
                          <a:solidFill>
                            <a:schemeClr val="tx1"/>
                          </a:solidFill>
                          <a:latin typeface="Avenir Next LT Pro (Body)"/>
                        </a:rPr>
                        <a:t>)</a:t>
                      </a:r>
                      <a:endParaRPr sz="2400" b="1" dirty="0">
                        <a:solidFill>
                          <a:schemeClr val="tx1"/>
                        </a:solidFill>
                        <a:latin typeface="Avenir Next LT Pro (Body)"/>
                      </a:endParaRPr>
                    </a:p>
                  </a:txBody>
                  <a:tcPr marL="121900" marR="121900" marT="121900" marB="121900"/>
                </a:tc>
                <a:extLst>
                  <a:ext uri="{0D108BD9-81ED-4DB2-BD59-A6C34878D82A}">
                    <a16:rowId xmlns:a16="http://schemas.microsoft.com/office/drawing/2014/main" val="10000"/>
                  </a:ext>
                </a:extLst>
              </a:tr>
              <a:tr h="578463">
                <a:tc>
                  <a:txBody>
                    <a:bodyPr/>
                    <a:lstStyle/>
                    <a:p>
                      <a:pPr marL="0" lvl="0" indent="0" algn="l" rtl="0">
                        <a:lnSpc>
                          <a:spcPct val="105000"/>
                        </a:lnSpc>
                        <a:spcBef>
                          <a:spcPts val="0"/>
                        </a:spcBef>
                        <a:spcAft>
                          <a:spcPts val="1200"/>
                        </a:spcAft>
                        <a:buNone/>
                      </a:pPr>
                      <a:r>
                        <a:rPr lang="en-GB" sz="2400" dirty="0">
                          <a:solidFill>
                            <a:schemeClr val="tx1"/>
                          </a:solidFill>
                          <a:latin typeface="Avenir Next LT Pro (Body)"/>
                        </a:rPr>
                        <a:t>Sales order</a:t>
                      </a:r>
                      <a:endParaRPr sz="2400" dirty="0">
                        <a:solidFill>
                          <a:schemeClr val="tx1"/>
                        </a:solidFill>
                        <a:latin typeface="Avenir Next LT Pro (Body)"/>
                      </a:endParaRPr>
                    </a:p>
                  </a:txBody>
                  <a:tcPr marL="121900" marR="121900" marT="121900" marB="121900"/>
                </a:tc>
                <a:extLst>
                  <a:ext uri="{0D108BD9-81ED-4DB2-BD59-A6C34878D82A}">
                    <a16:rowId xmlns:a16="http://schemas.microsoft.com/office/drawing/2014/main" val="10001"/>
                  </a:ext>
                </a:extLst>
              </a:tr>
              <a:tr h="578463">
                <a:tc>
                  <a:txBody>
                    <a:bodyPr/>
                    <a:lstStyle/>
                    <a:p>
                      <a:pPr marL="0" lvl="0" indent="0" algn="l" rtl="0">
                        <a:lnSpc>
                          <a:spcPct val="105000"/>
                        </a:lnSpc>
                        <a:spcBef>
                          <a:spcPts val="0"/>
                        </a:spcBef>
                        <a:spcAft>
                          <a:spcPts val="1200"/>
                        </a:spcAft>
                        <a:buClr>
                          <a:schemeClr val="dk1"/>
                        </a:buClr>
                        <a:buSzPts val="1100"/>
                        <a:buFont typeface="Arial"/>
                        <a:buNone/>
                      </a:pPr>
                      <a:r>
                        <a:rPr lang="en-GB" sz="2400" dirty="0">
                          <a:solidFill>
                            <a:schemeClr val="tx1"/>
                          </a:solidFill>
                          <a:latin typeface="Avenir Next LT Pro (Body)"/>
                        </a:rPr>
                        <a:t>Forecasting</a:t>
                      </a:r>
                      <a:endParaRPr sz="2400" dirty="0">
                        <a:solidFill>
                          <a:schemeClr val="tx1"/>
                        </a:solidFill>
                        <a:latin typeface="Avenir Next LT Pro (Body)"/>
                      </a:endParaRPr>
                    </a:p>
                  </a:txBody>
                  <a:tcPr marL="121900" marR="121900" marT="121900" marB="121900"/>
                </a:tc>
                <a:extLst>
                  <a:ext uri="{0D108BD9-81ED-4DB2-BD59-A6C34878D82A}">
                    <a16:rowId xmlns:a16="http://schemas.microsoft.com/office/drawing/2014/main" val="10002"/>
                  </a:ext>
                </a:extLst>
              </a:tr>
              <a:tr h="578463">
                <a:tc>
                  <a:txBody>
                    <a:bodyPr/>
                    <a:lstStyle/>
                    <a:p>
                      <a:pPr marL="0" lvl="0" indent="0" algn="l" rtl="0">
                        <a:lnSpc>
                          <a:spcPct val="105000"/>
                        </a:lnSpc>
                        <a:spcBef>
                          <a:spcPts val="0"/>
                        </a:spcBef>
                        <a:spcAft>
                          <a:spcPts val="1200"/>
                        </a:spcAft>
                        <a:buNone/>
                      </a:pPr>
                      <a:r>
                        <a:rPr lang="en-GB" sz="2400" dirty="0">
                          <a:solidFill>
                            <a:schemeClr val="tx1"/>
                          </a:solidFill>
                          <a:latin typeface="Avenir Next LT Pro (Body)"/>
                        </a:rPr>
                        <a:t>Sales analysis</a:t>
                      </a:r>
                      <a:endParaRPr sz="2400" dirty="0">
                        <a:solidFill>
                          <a:schemeClr val="tx1"/>
                        </a:solidFill>
                        <a:latin typeface="Avenir Next LT Pro (Body)"/>
                      </a:endParaRPr>
                    </a:p>
                  </a:txBody>
                  <a:tcPr marL="121900" marR="121900" marT="121900" marB="121900"/>
                </a:tc>
                <a:extLst>
                  <a:ext uri="{0D108BD9-81ED-4DB2-BD59-A6C34878D82A}">
                    <a16:rowId xmlns:a16="http://schemas.microsoft.com/office/drawing/2014/main" val="10003"/>
                  </a:ext>
                </a:extLst>
              </a:tr>
              <a:tr h="578463">
                <a:tc>
                  <a:txBody>
                    <a:bodyPr/>
                    <a:lstStyle/>
                    <a:p>
                      <a:pPr marL="0" lvl="0" indent="0" algn="l" rtl="0">
                        <a:lnSpc>
                          <a:spcPct val="105000"/>
                        </a:lnSpc>
                        <a:spcBef>
                          <a:spcPts val="0"/>
                        </a:spcBef>
                        <a:spcAft>
                          <a:spcPts val="1200"/>
                        </a:spcAft>
                        <a:buNone/>
                      </a:pPr>
                      <a:r>
                        <a:rPr lang="en-GB" sz="2400" dirty="0">
                          <a:solidFill>
                            <a:schemeClr val="tx1"/>
                          </a:solidFill>
                          <a:latin typeface="Avenir Next LT Pro (Body)"/>
                        </a:rPr>
                        <a:t>Billing</a:t>
                      </a:r>
                      <a:endParaRPr sz="2400" dirty="0">
                        <a:solidFill>
                          <a:schemeClr val="tx1"/>
                        </a:solidFill>
                        <a:latin typeface="Avenir Next LT Pro (Body)"/>
                      </a:endParaRPr>
                    </a:p>
                  </a:txBody>
                  <a:tcPr marL="121900" marR="121900" marT="121900" marB="121900"/>
                </a:tc>
                <a:extLst>
                  <a:ext uri="{0D108BD9-81ED-4DB2-BD59-A6C34878D82A}">
                    <a16:rowId xmlns:a16="http://schemas.microsoft.com/office/drawing/2014/main" val="10004"/>
                  </a:ext>
                </a:extLst>
              </a:tr>
              <a:tr h="578463">
                <a:tc>
                  <a:txBody>
                    <a:bodyPr/>
                    <a:lstStyle/>
                    <a:p>
                      <a:pPr marL="0" lvl="0" indent="0" algn="l" rtl="0">
                        <a:lnSpc>
                          <a:spcPct val="105000"/>
                        </a:lnSpc>
                        <a:spcBef>
                          <a:spcPts val="0"/>
                        </a:spcBef>
                        <a:spcAft>
                          <a:spcPts val="1200"/>
                        </a:spcAft>
                        <a:buClr>
                          <a:schemeClr val="dk1"/>
                        </a:buClr>
                        <a:buSzPts val="1100"/>
                        <a:buFont typeface="Arial"/>
                        <a:buNone/>
                      </a:pPr>
                      <a:r>
                        <a:rPr lang="en-GB" sz="2400" dirty="0">
                          <a:solidFill>
                            <a:schemeClr val="tx1"/>
                          </a:solidFill>
                          <a:latin typeface="Avenir Next LT Pro (Body)"/>
                        </a:rPr>
                        <a:t>Distribution</a:t>
                      </a:r>
                      <a:endParaRPr sz="2400" dirty="0">
                        <a:solidFill>
                          <a:schemeClr val="tx1"/>
                        </a:solidFill>
                        <a:latin typeface="Avenir Next LT Pro (Body)"/>
                      </a:endParaRPr>
                    </a:p>
                  </a:txBody>
                  <a:tcPr marL="121900" marR="121900" marT="121900" marB="121900"/>
                </a:tc>
                <a:extLst>
                  <a:ext uri="{0D108BD9-81ED-4DB2-BD59-A6C34878D82A}">
                    <a16:rowId xmlns:a16="http://schemas.microsoft.com/office/drawing/2014/main" val="10005"/>
                  </a:ext>
                </a:extLst>
              </a:tr>
              <a:tr h="578463">
                <a:tc>
                  <a:txBody>
                    <a:bodyPr/>
                    <a:lstStyle/>
                    <a:p>
                      <a:pPr marL="0" lvl="0" indent="0" algn="l" rtl="0">
                        <a:lnSpc>
                          <a:spcPct val="105000"/>
                        </a:lnSpc>
                        <a:spcBef>
                          <a:spcPts val="0"/>
                        </a:spcBef>
                        <a:spcAft>
                          <a:spcPts val="1200"/>
                        </a:spcAft>
                        <a:buNone/>
                      </a:pPr>
                      <a:r>
                        <a:rPr lang="en-GB" sz="2400" dirty="0">
                          <a:solidFill>
                            <a:schemeClr val="tx1"/>
                          </a:solidFill>
                          <a:latin typeface="Avenir Next LT Pro (Body)"/>
                        </a:rPr>
                        <a:t>Stock availability</a:t>
                      </a:r>
                      <a:endParaRPr sz="2400" dirty="0">
                        <a:solidFill>
                          <a:schemeClr val="tx1"/>
                        </a:solidFill>
                        <a:latin typeface="Avenir Next LT Pro (Body)"/>
                      </a:endParaRPr>
                    </a:p>
                  </a:txBody>
                  <a:tcPr marL="121900" marR="121900" marT="121900" marB="121900"/>
                </a:tc>
                <a:extLst>
                  <a:ext uri="{0D108BD9-81ED-4DB2-BD59-A6C34878D82A}">
                    <a16:rowId xmlns:a16="http://schemas.microsoft.com/office/drawing/2014/main" val="10006"/>
                  </a:ext>
                </a:extLst>
              </a:tr>
              <a:tr h="578463">
                <a:tc>
                  <a:txBody>
                    <a:bodyPr/>
                    <a:lstStyle/>
                    <a:p>
                      <a:pPr marL="0" lvl="0" indent="0" algn="l" rtl="0">
                        <a:lnSpc>
                          <a:spcPct val="105000"/>
                        </a:lnSpc>
                        <a:spcBef>
                          <a:spcPts val="0"/>
                        </a:spcBef>
                        <a:spcAft>
                          <a:spcPts val="1200"/>
                        </a:spcAft>
                        <a:buNone/>
                      </a:pPr>
                      <a:r>
                        <a:rPr lang="en-GB" sz="2400" dirty="0">
                          <a:solidFill>
                            <a:schemeClr val="tx1"/>
                          </a:solidFill>
                          <a:latin typeface="Avenir Next LT Pro (Body)"/>
                        </a:rPr>
                        <a:t>Sales quota control</a:t>
                      </a:r>
                      <a:endParaRPr sz="2400" dirty="0">
                        <a:solidFill>
                          <a:schemeClr val="tx1"/>
                        </a:solidFill>
                        <a:latin typeface="Avenir Next LT Pro (Body)"/>
                      </a:endParaRPr>
                    </a:p>
                  </a:txBody>
                  <a:tcPr marL="121900" marR="121900" marT="121900" marB="121900"/>
                </a:tc>
                <a:extLst>
                  <a:ext uri="{0D108BD9-81ED-4DB2-BD59-A6C34878D82A}">
                    <a16:rowId xmlns:a16="http://schemas.microsoft.com/office/drawing/2014/main" val="10007"/>
                  </a:ext>
                </a:extLst>
              </a:tr>
              <a:tr h="578463">
                <a:tc>
                  <a:txBody>
                    <a:bodyPr/>
                    <a:lstStyle/>
                    <a:p>
                      <a:pPr marL="0" lvl="0" indent="0" algn="l" rtl="0">
                        <a:lnSpc>
                          <a:spcPct val="105000"/>
                        </a:lnSpc>
                        <a:spcBef>
                          <a:spcPts val="0"/>
                        </a:spcBef>
                        <a:spcAft>
                          <a:spcPts val="1200"/>
                        </a:spcAft>
                        <a:buClr>
                          <a:schemeClr val="dk1"/>
                        </a:buClr>
                        <a:buSzPts val="1100"/>
                        <a:buFont typeface="Arial"/>
                        <a:buNone/>
                      </a:pPr>
                      <a:r>
                        <a:rPr lang="en-GB" sz="2400" dirty="0">
                          <a:solidFill>
                            <a:schemeClr val="tx1"/>
                          </a:solidFill>
                          <a:latin typeface="Avenir Next LT Pro (Body)"/>
                        </a:rPr>
                        <a:t>Pricing</a:t>
                      </a:r>
                      <a:endParaRPr sz="2400" dirty="0">
                        <a:solidFill>
                          <a:schemeClr val="tx1"/>
                        </a:solidFill>
                        <a:latin typeface="Avenir Next LT Pro (Body)"/>
                      </a:endParaRPr>
                    </a:p>
                  </a:txBody>
                  <a:tcPr marL="121900" marR="121900" marT="121900" marB="121900"/>
                </a:tc>
                <a:extLst>
                  <a:ext uri="{0D108BD9-81ED-4DB2-BD59-A6C34878D82A}">
                    <a16:rowId xmlns:a16="http://schemas.microsoft.com/office/drawing/2014/main" val="10008"/>
                  </a:ext>
                </a:extLst>
              </a:tr>
              <a:tr h="578463">
                <a:tc>
                  <a:txBody>
                    <a:bodyPr/>
                    <a:lstStyle/>
                    <a:p>
                      <a:pPr marL="0" lvl="0" indent="0" algn="l" rtl="0">
                        <a:lnSpc>
                          <a:spcPct val="105000"/>
                        </a:lnSpc>
                        <a:spcBef>
                          <a:spcPts val="0"/>
                        </a:spcBef>
                        <a:spcAft>
                          <a:spcPts val="1200"/>
                        </a:spcAft>
                        <a:buNone/>
                      </a:pPr>
                      <a:r>
                        <a:rPr lang="en-GB" sz="2400" dirty="0">
                          <a:solidFill>
                            <a:schemeClr val="tx1"/>
                          </a:solidFill>
                          <a:latin typeface="Avenir Next LT Pro (Body)"/>
                        </a:rPr>
                        <a:t>Product promotion</a:t>
                      </a:r>
                      <a:endParaRPr sz="2400" dirty="0">
                        <a:solidFill>
                          <a:schemeClr val="tx1"/>
                        </a:solidFill>
                        <a:latin typeface="Avenir Next LT Pro (Body)"/>
                      </a:endParaRPr>
                    </a:p>
                  </a:txBody>
                  <a:tcPr marL="121900" marR="121900" marT="121900" marB="121900"/>
                </a:tc>
                <a:extLst>
                  <a:ext uri="{0D108BD9-81ED-4DB2-BD59-A6C34878D82A}">
                    <a16:rowId xmlns:a16="http://schemas.microsoft.com/office/drawing/2014/main" val="10009"/>
                  </a:ext>
                </a:extLst>
              </a:tr>
            </a:tbl>
          </a:graphicData>
        </a:graphic>
      </p:graphicFrame>
      <p:sp>
        <p:nvSpPr>
          <p:cNvPr id="2" name="Slide Number Placeholder 1">
            <a:extLst>
              <a:ext uri="{FF2B5EF4-FFF2-40B4-BE49-F238E27FC236}">
                <a16:creationId xmlns:a16="http://schemas.microsoft.com/office/drawing/2014/main" id="{FE769EE3-1F8F-D471-ECA0-5B995B9EF4D8}"/>
              </a:ext>
            </a:extLst>
          </p:cNvPr>
          <p:cNvSpPr>
            <a:spLocks noGrp="1"/>
          </p:cNvSpPr>
          <p:nvPr>
            <p:ph type="sldNum" idx="12"/>
          </p:nvPr>
        </p:nvSpPr>
        <p:spPr/>
        <p:txBody>
          <a:bodyPr/>
          <a:lstStyle/>
          <a:p>
            <a:fld id="{00000000-1234-1234-1234-123412341234}" type="slidenum">
              <a:rPr lang="en-GB" smtClean="0"/>
              <a:pPr/>
              <a:t>25</a:t>
            </a:fld>
            <a:endParaRPr lang="en-GB"/>
          </a:p>
        </p:txBody>
      </p:sp>
    </p:spTree>
    <p:extLst>
      <p:ext uri="{BB962C8B-B14F-4D97-AF65-F5344CB8AC3E}">
        <p14:creationId xmlns:p14="http://schemas.microsoft.com/office/powerpoint/2010/main" val="7982529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35"/>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a:bodyPr>
          <a:lstStyle/>
          <a:p>
            <a:r>
              <a:rPr lang="en-GB" sz="3200" b="1" dirty="0">
                <a:solidFill>
                  <a:srgbClr val="0000FF"/>
                </a:solidFill>
                <a:latin typeface="Arial" panose="020B0604020202020204" pitchFamily="34" charset="0"/>
                <a:cs typeface="Arial" panose="020B0604020202020204" pitchFamily="34" charset="0"/>
              </a:rPr>
              <a:t>Various Functions of Information Systems</a:t>
            </a:r>
            <a:endParaRPr sz="3200" b="1" dirty="0">
              <a:solidFill>
                <a:srgbClr val="0000FF"/>
              </a:solidFill>
              <a:latin typeface="Arial" panose="020B0604020202020204" pitchFamily="34" charset="0"/>
              <a:cs typeface="Arial" panose="020B0604020202020204" pitchFamily="34" charset="0"/>
            </a:endParaRPr>
          </a:p>
        </p:txBody>
      </p:sp>
      <p:graphicFrame>
        <p:nvGraphicFramePr>
          <p:cNvPr id="208" name="Google Shape;208;p35"/>
          <p:cNvGraphicFramePr/>
          <p:nvPr>
            <p:extLst>
              <p:ext uri="{D42A27DB-BD31-4B8C-83A1-F6EECF244321}">
                <p14:modId xmlns:p14="http://schemas.microsoft.com/office/powerpoint/2010/main" val="5934108"/>
              </p:ext>
            </p:extLst>
          </p:nvPr>
        </p:nvGraphicFramePr>
        <p:xfrm>
          <a:off x="5677367" y="1470867"/>
          <a:ext cx="5120800" cy="5315392"/>
        </p:xfrm>
        <a:graphic>
          <a:graphicData uri="http://schemas.openxmlformats.org/drawingml/2006/table">
            <a:tbl>
              <a:tblPr>
                <a:noFill/>
              </a:tblPr>
              <a:tblGrid>
                <a:gridCol w="5120800">
                  <a:extLst>
                    <a:ext uri="{9D8B030D-6E8A-4147-A177-3AD203B41FA5}">
                      <a16:colId xmlns:a16="http://schemas.microsoft.com/office/drawing/2014/main" val="20000"/>
                    </a:ext>
                  </a:extLst>
                </a:gridCol>
              </a:tblGrid>
              <a:tr h="664424">
                <a:tc>
                  <a:txBody>
                    <a:bodyPr/>
                    <a:lstStyle/>
                    <a:p>
                      <a:pPr marL="0" lvl="0" indent="0" algn="l" rtl="0">
                        <a:lnSpc>
                          <a:spcPct val="115000"/>
                        </a:lnSpc>
                        <a:spcBef>
                          <a:spcPts val="0"/>
                        </a:spcBef>
                        <a:spcAft>
                          <a:spcPts val="1200"/>
                        </a:spcAft>
                        <a:buClr>
                          <a:schemeClr val="dk1"/>
                        </a:buClr>
                        <a:buSzPts val="1100"/>
                        <a:buFont typeface="Arial"/>
                        <a:buNone/>
                      </a:pPr>
                      <a:r>
                        <a:rPr lang="en-GB" sz="2400" b="1" dirty="0">
                          <a:solidFill>
                            <a:schemeClr val="tx1"/>
                          </a:solidFill>
                          <a:latin typeface="Arial" panose="020B0604020202020204" pitchFamily="34" charset="0"/>
                          <a:cs typeface="Arial" panose="020B0604020202020204" pitchFamily="34" charset="0"/>
                        </a:rPr>
                        <a:t>Finance and accounting </a:t>
                      </a:r>
                      <a:endParaRPr sz="2400" b="1" dirty="0">
                        <a:solidFill>
                          <a:schemeClr val="tx1"/>
                        </a:solidFill>
                        <a:latin typeface="Arial" panose="020B0604020202020204" pitchFamily="34" charset="0"/>
                        <a:cs typeface="Arial" panose="020B0604020202020204" pitchFamily="34" charset="0"/>
                      </a:endParaRPr>
                    </a:p>
                  </a:txBody>
                  <a:tcPr marL="121900" marR="121900" marT="121900" marB="121900"/>
                </a:tc>
                <a:extLst>
                  <a:ext uri="{0D108BD9-81ED-4DB2-BD59-A6C34878D82A}">
                    <a16:rowId xmlns:a16="http://schemas.microsoft.com/office/drawing/2014/main" val="10000"/>
                  </a:ext>
                </a:extLst>
              </a:tr>
              <a:tr h="664424">
                <a:tc>
                  <a:txBody>
                    <a:bodyPr/>
                    <a:lstStyle/>
                    <a:p>
                      <a:pPr marL="0" lvl="0" indent="0" algn="l" rtl="0">
                        <a:lnSpc>
                          <a:spcPct val="115000"/>
                        </a:lnSpc>
                        <a:spcBef>
                          <a:spcPts val="0"/>
                        </a:spcBef>
                        <a:spcAft>
                          <a:spcPts val="1200"/>
                        </a:spcAft>
                        <a:buNone/>
                      </a:pPr>
                      <a:r>
                        <a:rPr lang="en-GB" sz="2400" dirty="0">
                          <a:solidFill>
                            <a:schemeClr val="tx1"/>
                          </a:solidFill>
                          <a:latin typeface="Arial" panose="020B0604020202020204" pitchFamily="34" charset="0"/>
                          <a:cs typeface="Arial" panose="020B0604020202020204" pitchFamily="34" charset="0"/>
                        </a:rPr>
                        <a:t>Financial planning</a:t>
                      </a:r>
                      <a:endParaRPr sz="2400" dirty="0">
                        <a:solidFill>
                          <a:schemeClr val="tx1"/>
                        </a:solidFill>
                        <a:latin typeface="Arial" panose="020B0604020202020204" pitchFamily="34" charset="0"/>
                        <a:cs typeface="Arial" panose="020B0604020202020204" pitchFamily="34" charset="0"/>
                      </a:endParaRPr>
                    </a:p>
                  </a:txBody>
                  <a:tcPr marL="121900" marR="121900" marT="121900" marB="121900"/>
                </a:tc>
                <a:extLst>
                  <a:ext uri="{0D108BD9-81ED-4DB2-BD59-A6C34878D82A}">
                    <a16:rowId xmlns:a16="http://schemas.microsoft.com/office/drawing/2014/main" val="10001"/>
                  </a:ext>
                </a:extLst>
              </a:tr>
              <a:tr h="664424">
                <a:tc>
                  <a:txBody>
                    <a:bodyPr/>
                    <a:lstStyle/>
                    <a:p>
                      <a:pPr marL="0" lvl="0" indent="0" algn="l" rtl="0">
                        <a:lnSpc>
                          <a:spcPct val="115000"/>
                        </a:lnSpc>
                        <a:spcBef>
                          <a:spcPts val="0"/>
                        </a:spcBef>
                        <a:spcAft>
                          <a:spcPts val="1200"/>
                        </a:spcAft>
                        <a:buNone/>
                      </a:pPr>
                      <a:r>
                        <a:rPr lang="en-GB" sz="2400" dirty="0">
                          <a:solidFill>
                            <a:schemeClr val="tx1"/>
                          </a:solidFill>
                          <a:latin typeface="Arial" panose="020B0604020202020204" pitchFamily="34" charset="0"/>
                          <a:cs typeface="Arial" panose="020B0604020202020204" pitchFamily="34" charset="0"/>
                        </a:rPr>
                        <a:t>Budgeting</a:t>
                      </a:r>
                      <a:endParaRPr sz="2400" dirty="0">
                        <a:solidFill>
                          <a:schemeClr val="tx1"/>
                        </a:solidFill>
                        <a:latin typeface="Arial" panose="020B0604020202020204" pitchFamily="34" charset="0"/>
                        <a:cs typeface="Arial" panose="020B0604020202020204" pitchFamily="34" charset="0"/>
                      </a:endParaRPr>
                    </a:p>
                  </a:txBody>
                  <a:tcPr marL="121900" marR="121900" marT="121900" marB="121900"/>
                </a:tc>
                <a:extLst>
                  <a:ext uri="{0D108BD9-81ED-4DB2-BD59-A6C34878D82A}">
                    <a16:rowId xmlns:a16="http://schemas.microsoft.com/office/drawing/2014/main" val="10002"/>
                  </a:ext>
                </a:extLst>
              </a:tr>
              <a:tr h="664424">
                <a:tc>
                  <a:txBody>
                    <a:bodyPr/>
                    <a:lstStyle/>
                    <a:p>
                      <a:pPr marL="0" lvl="0" indent="0" algn="l" rtl="0">
                        <a:lnSpc>
                          <a:spcPct val="115000"/>
                        </a:lnSpc>
                        <a:spcBef>
                          <a:spcPts val="0"/>
                        </a:spcBef>
                        <a:spcAft>
                          <a:spcPts val="1200"/>
                        </a:spcAft>
                        <a:buClr>
                          <a:schemeClr val="dk1"/>
                        </a:buClr>
                        <a:buSzPts val="1100"/>
                        <a:buFont typeface="Arial"/>
                        <a:buNone/>
                      </a:pPr>
                      <a:r>
                        <a:rPr lang="en-GB" sz="2400" dirty="0">
                          <a:solidFill>
                            <a:schemeClr val="tx1"/>
                          </a:solidFill>
                          <a:latin typeface="Arial" panose="020B0604020202020204" pitchFamily="34" charset="0"/>
                          <a:cs typeface="Arial" panose="020B0604020202020204" pitchFamily="34" charset="0"/>
                        </a:rPr>
                        <a:t>Cost accounting</a:t>
                      </a:r>
                      <a:endParaRPr sz="2400" dirty="0">
                        <a:solidFill>
                          <a:schemeClr val="tx1"/>
                        </a:solidFill>
                        <a:latin typeface="Arial" panose="020B0604020202020204" pitchFamily="34" charset="0"/>
                        <a:cs typeface="Arial" panose="020B0604020202020204" pitchFamily="34" charset="0"/>
                      </a:endParaRPr>
                    </a:p>
                  </a:txBody>
                  <a:tcPr marL="121900" marR="121900" marT="121900" marB="121900"/>
                </a:tc>
                <a:extLst>
                  <a:ext uri="{0D108BD9-81ED-4DB2-BD59-A6C34878D82A}">
                    <a16:rowId xmlns:a16="http://schemas.microsoft.com/office/drawing/2014/main" val="10003"/>
                  </a:ext>
                </a:extLst>
              </a:tr>
              <a:tr h="664424">
                <a:tc>
                  <a:txBody>
                    <a:bodyPr/>
                    <a:lstStyle/>
                    <a:p>
                      <a:pPr marL="0" lvl="0" indent="0" algn="l" rtl="0">
                        <a:lnSpc>
                          <a:spcPct val="115000"/>
                        </a:lnSpc>
                        <a:spcBef>
                          <a:spcPts val="0"/>
                        </a:spcBef>
                        <a:spcAft>
                          <a:spcPts val="1200"/>
                        </a:spcAft>
                        <a:buNone/>
                      </a:pPr>
                      <a:r>
                        <a:rPr lang="en-GB" sz="2400" dirty="0">
                          <a:solidFill>
                            <a:schemeClr val="tx1"/>
                          </a:solidFill>
                          <a:latin typeface="Arial" panose="020B0604020202020204" pitchFamily="34" charset="0"/>
                          <a:cs typeface="Arial" panose="020B0604020202020204" pitchFamily="34" charset="0"/>
                        </a:rPr>
                        <a:t>Asset accounting</a:t>
                      </a:r>
                      <a:endParaRPr sz="2400" dirty="0">
                        <a:solidFill>
                          <a:schemeClr val="tx1"/>
                        </a:solidFill>
                        <a:latin typeface="Arial" panose="020B0604020202020204" pitchFamily="34" charset="0"/>
                        <a:cs typeface="Arial" panose="020B0604020202020204" pitchFamily="34" charset="0"/>
                      </a:endParaRPr>
                    </a:p>
                  </a:txBody>
                  <a:tcPr marL="121900" marR="121900" marT="121900" marB="121900"/>
                </a:tc>
                <a:extLst>
                  <a:ext uri="{0D108BD9-81ED-4DB2-BD59-A6C34878D82A}">
                    <a16:rowId xmlns:a16="http://schemas.microsoft.com/office/drawing/2014/main" val="10004"/>
                  </a:ext>
                </a:extLst>
              </a:tr>
              <a:tr h="664424">
                <a:tc>
                  <a:txBody>
                    <a:bodyPr/>
                    <a:lstStyle/>
                    <a:p>
                      <a:pPr marL="0" lvl="0" indent="0" algn="l" rtl="0">
                        <a:lnSpc>
                          <a:spcPct val="115000"/>
                        </a:lnSpc>
                        <a:spcBef>
                          <a:spcPts val="0"/>
                        </a:spcBef>
                        <a:spcAft>
                          <a:spcPts val="1200"/>
                        </a:spcAft>
                        <a:buClr>
                          <a:schemeClr val="dk1"/>
                        </a:buClr>
                        <a:buSzPts val="1100"/>
                        <a:buFont typeface="Arial"/>
                        <a:buNone/>
                      </a:pPr>
                      <a:r>
                        <a:rPr lang="en-GB" sz="2400" dirty="0">
                          <a:solidFill>
                            <a:schemeClr val="tx1"/>
                          </a:solidFill>
                          <a:latin typeface="Arial" panose="020B0604020202020204" pitchFamily="34" charset="0"/>
                          <a:cs typeface="Arial" panose="020B0604020202020204" pitchFamily="34" charset="0"/>
                        </a:rPr>
                        <a:t>Accounts Receivable</a:t>
                      </a:r>
                      <a:endParaRPr sz="2400" dirty="0">
                        <a:solidFill>
                          <a:schemeClr val="tx1"/>
                        </a:solidFill>
                        <a:latin typeface="Arial" panose="020B0604020202020204" pitchFamily="34" charset="0"/>
                        <a:cs typeface="Arial" panose="020B0604020202020204" pitchFamily="34" charset="0"/>
                      </a:endParaRPr>
                    </a:p>
                  </a:txBody>
                  <a:tcPr marL="121900" marR="121900" marT="121900" marB="121900"/>
                </a:tc>
                <a:extLst>
                  <a:ext uri="{0D108BD9-81ED-4DB2-BD59-A6C34878D82A}">
                    <a16:rowId xmlns:a16="http://schemas.microsoft.com/office/drawing/2014/main" val="10005"/>
                  </a:ext>
                </a:extLst>
              </a:tr>
              <a:tr h="664424">
                <a:tc>
                  <a:txBody>
                    <a:bodyPr/>
                    <a:lstStyle/>
                    <a:p>
                      <a:pPr marL="0" lvl="0" indent="0" algn="l" rtl="0">
                        <a:lnSpc>
                          <a:spcPct val="115000"/>
                        </a:lnSpc>
                        <a:spcBef>
                          <a:spcPts val="0"/>
                        </a:spcBef>
                        <a:spcAft>
                          <a:spcPts val="1200"/>
                        </a:spcAft>
                        <a:buClr>
                          <a:schemeClr val="dk1"/>
                        </a:buClr>
                        <a:buSzPts val="1100"/>
                        <a:buFont typeface="Arial"/>
                        <a:buNone/>
                      </a:pPr>
                      <a:r>
                        <a:rPr lang="en-GB" sz="2400" dirty="0">
                          <a:solidFill>
                            <a:schemeClr val="tx1"/>
                          </a:solidFill>
                          <a:latin typeface="Arial" panose="020B0604020202020204" pitchFamily="34" charset="0"/>
                          <a:cs typeface="Arial" panose="020B0604020202020204" pitchFamily="34" charset="0"/>
                        </a:rPr>
                        <a:t>Payroll</a:t>
                      </a:r>
                      <a:endParaRPr sz="2400" dirty="0">
                        <a:solidFill>
                          <a:schemeClr val="tx1"/>
                        </a:solidFill>
                        <a:latin typeface="Arial" panose="020B0604020202020204" pitchFamily="34" charset="0"/>
                        <a:cs typeface="Arial" panose="020B0604020202020204" pitchFamily="34" charset="0"/>
                      </a:endParaRPr>
                    </a:p>
                  </a:txBody>
                  <a:tcPr marL="121900" marR="121900" marT="121900" marB="121900"/>
                </a:tc>
                <a:extLst>
                  <a:ext uri="{0D108BD9-81ED-4DB2-BD59-A6C34878D82A}">
                    <a16:rowId xmlns:a16="http://schemas.microsoft.com/office/drawing/2014/main" val="10006"/>
                  </a:ext>
                </a:extLst>
              </a:tr>
              <a:tr h="664424">
                <a:tc>
                  <a:txBody>
                    <a:bodyPr/>
                    <a:lstStyle/>
                    <a:p>
                      <a:pPr marL="0" lvl="0" indent="0" algn="l" rtl="0">
                        <a:lnSpc>
                          <a:spcPct val="115000"/>
                        </a:lnSpc>
                        <a:spcBef>
                          <a:spcPts val="0"/>
                        </a:spcBef>
                        <a:spcAft>
                          <a:spcPts val="1200"/>
                        </a:spcAft>
                        <a:buNone/>
                      </a:pPr>
                      <a:r>
                        <a:rPr lang="en-GB" sz="2400" dirty="0">
                          <a:solidFill>
                            <a:schemeClr val="tx1"/>
                          </a:solidFill>
                          <a:latin typeface="Arial" panose="020B0604020202020204" pitchFamily="34" charset="0"/>
                          <a:cs typeface="Arial" panose="020B0604020202020204" pitchFamily="34" charset="0"/>
                        </a:rPr>
                        <a:t>Accounts payable, etc.</a:t>
                      </a:r>
                      <a:endParaRPr sz="2400" dirty="0">
                        <a:solidFill>
                          <a:schemeClr val="tx1"/>
                        </a:solidFill>
                        <a:latin typeface="Arial" panose="020B0604020202020204" pitchFamily="34" charset="0"/>
                        <a:cs typeface="Arial" panose="020B0604020202020204" pitchFamily="34" charset="0"/>
                      </a:endParaRPr>
                    </a:p>
                  </a:txBody>
                  <a:tcPr marL="121900" marR="121900" marT="121900" marB="121900"/>
                </a:tc>
                <a:extLst>
                  <a:ext uri="{0D108BD9-81ED-4DB2-BD59-A6C34878D82A}">
                    <a16:rowId xmlns:a16="http://schemas.microsoft.com/office/drawing/2014/main" val="10007"/>
                  </a:ext>
                </a:extLst>
              </a:tr>
            </a:tbl>
          </a:graphicData>
        </a:graphic>
      </p:graphicFrame>
      <p:graphicFrame>
        <p:nvGraphicFramePr>
          <p:cNvPr id="209" name="Google Shape;209;p35"/>
          <p:cNvGraphicFramePr/>
          <p:nvPr>
            <p:extLst>
              <p:ext uri="{D42A27DB-BD31-4B8C-83A1-F6EECF244321}">
                <p14:modId xmlns:p14="http://schemas.microsoft.com/office/powerpoint/2010/main" val="2066689889"/>
              </p:ext>
            </p:extLst>
          </p:nvPr>
        </p:nvGraphicFramePr>
        <p:xfrm>
          <a:off x="671633" y="2385233"/>
          <a:ext cx="4110467" cy="3322120"/>
        </p:xfrm>
        <a:graphic>
          <a:graphicData uri="http://schemas.openxmlformats.org/drawingml/2006/table">
            <a:tbl>
              <a:tblPr>
                <a:noFill/>
              </a:tblPr>
              <a:tblGrid>
                <a:gridCol w="4110467">
                  <a:extLst>
                    <a:ext uri="{9D8B030D-6E8A-4147-A177-3AD203B41FA5}">
                      <a16:colId xmlns:a16="http://schemas.microsoft.com/office/drawing/2014/main" val="20000"/>
                    </a:ext>
                  </a:extLst>
                </a:gridCol>
              </a:tblGrid>
              <a:tr h="664424">
                <a:tc>
                  <a:txBody>
                    <a:bodyPr/>
                    <a:lstStyle/>
                    <a:p>
                      <a:pPr marL="0" lvl="0" indent="0" algn="l" rtl="0">
                        <a:lnSpc>
                          <a:spcPct val="115000"/>
                        </a:lnSpc>
                        <a:spcBef>
                          <a:spcPts val="0"/>
                        </a:spcBef>
                        <a:spcAft>
                          <a:spcPts val="1200"/>
                        </a:spcAft>
                        <a:buNone/>
                      </a:pPr>
                      <a:r>
                        <a:rPr lang="en-GB" sz="2400" b="1" dirty="0">
                          <a:solidFill>
                            <a:schemeClr val="tx1"/>
                          </a:solidFill>
                          <a:latin typeface="Arial" panose="020B0604020202020204" pitchFamily="34" charset="0"/>
                          <a:cs typeface="Arial" panose="020B0604020202020204" pitchFamily="34" charset="0"/>
                        </a:rPr>
                        <a:t>Materials (</a:t>
                      </a:r>
                      <a:r>
                        <a:rPr lang="en-GB" sz="2400" b="1" dirty="0" err="1">
                          <a:solidFill>
                            <a:schemeClr val="tx1"/>
                          </a:solidFill>
                          <a:latin typeface="Arial" panose="020B0604020202020204" pitchFamily="34" charset="0"/>
                          <a:cs typeface="Arial" panose="020B0604020202020204" pitchFamily="34" charset="0"/>
                        </a:rPr>
                        <a:t>উপাদান</a:t>
                      </a:r>
                      <a:r>
                        <a:rPr lang="en-GB" sz="2400" b="1" dirty="0">
                          <a:solidFill>
                            <a:schemeClr val="tx1"/>
                          </a:solidFill>
                          <a:latin typeface="Arial" panose="020B0604020202020204" pitchFamily="34" charset="0"/>
                          <a:cs typeface="Arial" panose="020B0604020202020204" pitchFamily="34" charset="0"/>
                        </a:rPr>
                        <a:t>)</a:t>
                      </a:r>
                      <a:endParaRPr sz="2400" b="1" dirty="0">
                        <a:solidFill>
                          <a:schemeClr val="tx1"/>
                        </a:solidFill>
                        <a:latin typeface="Arial" panose="020B0604020202020204" pitchFamily="34" charset="0"/>
                        <a:cs typeface="Arial" panose="020B0604020202020204" pitchFamily="34" charset="0"/>
                      </a:endParaRPr>
                    </a:p>
                  </a:txBody>
                  <a:tcPr marL="121900" marR="121900" marT="121900" marB="121900"/>
                </a:tc>
                <a:extLst>
                  <a:ext uri="{0D108BD9-81ED-4DB2-BD59-A6C34878D82A}">
                    <a16:rowId xmlns:a16="http://schemas.microsoft.com/office/drawing/2014/main" val="10000"/>
                  </a:ext>
                </a:extLst>
              </a:tr>
              <a:tr h="664424">
                <a:tc>
                  <a:txBody>
                    <a:bodyPr/>
                    <a:lstStyle/>
                    <a:p>
                      <a:pPr marL="0" lvl="0" indent="0" algn="l" rtl="0">
                        <a:lnSpc>
                          <a:spcPct val="115000"/>
                        </a:lnSpc>
                        <a:spcBef>
                          <a:spcPts val="0"/>
                        </a:spcBef>
                        <a:spcAft>
                          <a:spcPts val="1200"/>
                        </a:spcAft>
                        <a:buNone/>
                      </a:pPr>
                      <a:r>
                        <a:rPr lang="en-GB" sz="2400" dirty="0">
                          <a:solidFill>
                            <a:schemeClr val="tx1"/>
                          </a:solidFill>
                          <a:latin typeface="Arial" panose="020B0604020202020204" pitchFamily="34" charset="0"/>
                          <a:cs typeface="Arial" panose="020B0604020202020204" pitchFamily="34" charset="0"/>
                        </a:rPr>
                        <a:t>Material planning</a:t>
                      </a:r>
                      <a:endParaRPr sz="2400" dirty="0">
                        <a:solidFill>
                          <a:schemeClr val="tx1"/>
                        </a:solidFill>
                        <a:latin typeface="Arial" panose="020B0604020202020204" pitchFamily="34" charset="0"/>
                        <a:cs typeface="Arial" panose="020B0604020202020204" pitchFamily="34" charset="0"/>
                      </a:endParaRPr>
                    </a:p>
                  </a:txBody>
                  <a:tcPr marL="121900" marR="121900" marT="121900" marB="121900"/>
                </a:tc>
                <a:extLst>
                  <a:ext uri="{0D108BD9-81ED-4DB2-BD59-A6C34878D82A}">
                    <a16:rowId xmlns:a16="http://schemas.microsoft.com/office/drawing/2014/main" val="10001"/>
                  </a:ext>
                </a:extLst>
              </a:tr>
              <a:tr h="664424">
                <a:tc>
                  <a:txBody>
                    <a:bodyPr/>
                    <a:lstStyle/>
                    <a:p>
                      <a:pPr marL="0" lvl="0" indent="0" algn="l" rtl="0">
                        <a:lnSpc>
                          <a:spcPct val="115000"/>
                        </a:lnSpc>
                        <a:spcBef>
                          <a:spcPts val="0"/>
                        </a:spcBef>
                        <a:spcAft>
                          <a:spcPts val="1200"/>
                        </a:spcAft>
                        <a:buNone/>
                      </a:pPr>
                      <a:r>
                        <a:rPr lang="en-GB" sz="2400" dirty="0">
                          <a:solidFill>
                            <a:schemeClr val="tx1"/>
                          </a:solidFill>
                          <a:latin typeface="Arial" panose="020B0604020202020204" pitchFamily="34" charset="0"/>
                          <a:cs typeface="Arial" panose="020B0604020202020204" pitchFamily="34" charset="0"/>
                        </a:rPr>
                        <a:t>Bill of material</a:t>
                      </a:r>
                      <a:endParaRPr sz="2400" dirty="0">
                        <a:solidFill>
                          <a:schemeClr val="tx1"/>
                        </a:solidFill>
                        <a:latin typeface="Arial" panose="020B0604020202020204" pitchFamily="34" charset="0"/>
                        <a:cs typeface="Arial" panose="020B0604020202020204" pitchFamily="34" charset="0"/>
                      </a:endParaRPr>
                    </a:p>
                  </a:txBody>
                  <a:tcPr marL="121900" marR="121900" marT="121900" marB="121900"/>
                </a:tc>
                <a:extLst>
                  <a:ext uri="{0D108BD9-81ED-4DB2-BD59-A6C34878D82A}">
                    <a16:rowId xmlns:a16="http://schemas.microsoft.com/office/drawing/2014/main" val="10002"/>
                  </a:ext>
                </a:extLst>
              </a:tr>
              <a:tr h="664424">
                <a:tc>
                  <a:txBody>
                    <a:bodyPr/>
                    <a:lstStyle/>
                    <a:p>
                      <a:pPr marL="0" lvl="0" indent="0" algn="l" rtl="0">
                        <a:lnSpc>
                          <a:spcPct val="115000"/>
                        </a:lnSpc>
                        <a:spcBef>
                          <a:spcPts val="0"/>
                        </a:spcBef>
                        <a:spcAft>
                          <a:spcPts val="1200"/>
                        </a:spcAft>
                        <a:buNone/>
                      </a:pPr>
                      <a:r>
                        <a:rPr lang="en-GB" sz="2400" dirty="0">
                          <a:solidFill>
                            <a:schemeClr val="tx1"/>
                          </a:solidFill>
                          <a:latin typeface="Arial" panose="020B0604020202020204" pitchFamily="34" charset="0"/>
                          <a:cs typeface="Arial" panose="020B0604020202020204" pitchFamily="34" charset="0"/>
                        </a:rPr>
                        <a:t>Cost estimate</a:t>
                      </a:r>
                      <a:endParaRPr sz="2400" dirty="0">
                        <a:solidFill>
                          <a:schemeClr val="tx1"/>
                        </a:solidFill>
                        <a:latin typeface="Arial" panose="020B0604020202020204" pitchFamily="34" charset="0"/>
                        <a:cs typeface="Arial" panose="020B0604020202020204" pitchFamily="34" charset="0"/>
                      </a:endParaRPr>
                    </a:p>
                  </a:txBody>
                  <a:tcPr marL="121900" marR="121900" marT="121900" marB="121900"/>
                </a:tc>
                <a:extLst>
                  <a:ext uri="{0D108BD9-81ED-4DB2-BD59-A6C34878D82A}">
                    <a16:rowId xmlns:a16="http://schemas.microsoft.com/office/drawing/2014/main" val="10003"/>
                  </a:ext>
                </a:extLst>
              </a:tr>
              <a:tr h="664424">
                <a:tc>
                  <a:txBody>
                    <a:bodyPr/>
                    <a:lstStyle/>
                    <a:p>
                      <a:pPr marL="0" lvl="0" indent="0" algn="l" rtl="0">
                        <a:lnSpc>
                          <a:spcPct val="115000"/>
                        </a:lnSpc>
                        <a:spcBef>
                          <a:spcPts val="0"/>
                        </a:spcBef>
                        <a:spcAft>
                          <a:spcPts val="1200"/>
                        </a:spcAft>
                        <a:buNone/>
                      </a:pPr>
                      <a:r>
                        <a:rPr lang="en-GB" sz="2400" dirty="0">
                          <a:solidFill>
                            <a:schemeClr val="tx1"/>
                          </a:solidFill>
                          <a:latin typeface="Arial" panose="020B0604020202020204" pitchFamily="34" charset="0"/>
                          <a:cs typeface="Arial" panose="020B0604020202020204" pitchFamily="34" charset="0"/>
                        </a:rPr>
                        <a:t>Warehousing planning etc...</a:t>
                      </a:r>
                      <a:endParaRPr sz="2400" dirty="0">
                        <a:solidFill>
                          <a:schemeClr val="tx1"/>
                        </a:solidFill>
                        <a:latin typeface="Arial" panose="020B0604020202020204" pitchFamily="34" charset="0"/>
                        <a:cs typeface="Arial" panose="020B0604020202020204" pitchFamily="34" charset="0"/>
                      </a:endParaRPr>
                    </a:p>
                  </a:txBody>
                  <a:tcPr marL="121900" marR="121900" marT="121900" marB="121900"/>
                </a:tc>
                <a:extLst>
                  <a:ext uri="{0D108BD9-81ED-4DB2-BD59-A6C34878D82A}">
                    <a16:rowId xmlns:a16="http://schemas.microsoft.com/office/drawing/2014/main" val="10004"/>
                  </a:ext>
                </a:extLst>
              </a:tr>
            </a:tbl>
          </a:graphicData>
        </a:graphic>
      </p:graphicFrame>
      <p:sp>
        <p:nvSpPr>
          <p:cNvPr id="2" name="Slide Number Placeholder 1">
            <a:extLst>
              <a:ext uri="{FF2B5EF4-FFF2-40B4-BE49-F238E27FC236}">
                <a16:creationId xmlns:a16="http://schemas.microsoft.com/office/drawing/2014/main" id="{97E3FC38-85C4-A054-A101-5C8B53A9C6E2}"/>
              </a:ext>
            </a:extLst>
          </p:cNvPr>
          <p:cNvSpPr>
            <a:spLocks noGrp="1"/>
          </p:cNvSpPr>
          <p:nvPr>
            <p:ph type="sldNum" idx="12"/>
          </p:nvPr>
        </p:nvSpPr>
        <p:spPr/>
        <p:txBody>
          <a:bodyPr/>
          <a:lstStyle/>
          <a:p>
            <a:fld id="{00000000-1234-1234-1234-123412341234}" type="slidenum">
              <a:rPr lang="en-GB" smtClean="0"/>
              <a:pPr/>
              <a:t>26</a:t>
            </a:fld>
            <a:endParaRPr lang="en-GB"/>
          </a:p>
        </p:txBody>
      </p:sp>
    </p:spTree>
    <p:extLst>
      <p:ext uri="{BB962C8B-B14F-4D97-AF65-F5344CB8AC3E}">
        <p14:creationId xmlns:p14="http://schemas.microsoft.com/office/powerpoint/2010/main" val="20344461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6"/>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a:bodyPr>
          <a:lstStyle/>
          <a:p>
            <a:r>
              <a:rPr lang="en-GB" sz="3200" b="1" dirty="0">
                <a:solidFill>
                  <a:srgbClr val="0000FF"/>
                </a:solidFill>
                <a:latin typeface="Arial" panose="020B0604020202020204" pitchFamily="34" charset="0"/>
                <a:cs typeface="Arial" panose="020B0604020202020204" pitchFamily="34" charset="0"/>
              </a:rPr>
              <a:t>Various Functions of Information Systems</a:t>
            </a:r>
            <a:endParaRPr sz="3200" b="1" dirty="0">
              <a:solidFill>
                <a:srgbClr val="0000FF"/>
              </a:solidFill>
              <a:latin typeface="Arial" panose="020B0604020202020204" pitchFamily="34" charset="0"/>
              <a:cs typeface="Arial" panose="020B0604020202020204" pitchFamily="34" charset="0"/>
            </a:endParaRPr>
          </a:p>
        </p:txBody>
      </p:sp>
      <p:graphicFrame>
        <p:nvGraphicFramePr>
          <p:cNvPr id="215" name="Google Shape;215;p36"/>
          <p:cNvGraphicFramePr/>
          <p:nvPr>
            <p:extLst>
              <p:ext uri="{D42A27DB-BD31-4B8C-83A1-F6EECF244321}">
                <p14:modId xmlns:p14="http://schemas.microsoft.com/office/powerpoint/2010/main" val="4286191184"/>
              </p:ext>
            </p:extLst>
          </p:nvPr>
        </p:nvGraphicFramePr>
        <p:xfrm>
          <a:off x="4027151" y="2131233"/>
          <a:ext cx="4137700" cy="3931680"/>
        </p:xfrm>
        <a:graphic>
          <a:graphicData uri="http://schemas.openxmlformats.org/drawingml/2006/table">
            <a:tbl>
              <a:tblPr>
                <a:noFill/>
              </a:tblPr>
              <a:tblGrid>
                <a:gridCol w="4137700">
                  <a:extLst>
                    <a:ext uri="{9D8B030D-6E8A-4147-A177-3AD203B41FA5}">
                      <a16:colId xmlns:a16="http://schemas.microsoft.com/office/drawing/2014/main" val="20000"/>
                    </a:ext>
                  </a:extLst>
                </a:gridCol>
              </a:tblGrid>
              <a:tr h="609560">
                <a:tc>
                  <a:txBody>
                    <a:bodyPr/>
                    <a:lstStyle/>
                    <a:p>
                      <a:pPr marL="0" lvl="0" indent="0" algn="l" rtl="0">
                        <a:spcBef>
                          <a:spcPts val="0"/>
                        </a:spcBef>
                        <a:spcAft>
                          <a:spcPts val="0"/>
                        </a:spcAft>
                        <a:buNone/>
                      </a:pPr>
                      <a:r>
                        <a:rPr lang="en-GB" sz="2400" b="1" dirty="0">
                          <a:solidFill>
                            <a:schemeClr val="tx1"/>
                          </a:solidFill>
                          <a:latin typeface="Arial" panose="020B0604020202020204" pitchFamily="34" charset="0"/>
                          <a:cs typeface="Arial" panose="020B0604020202020204" pitchFamily="34" charset="0"/>
                        </a:rPr>
                        <a:t>Personnel</a:t>
                      </a:r>
                      <a:endParaRPr sz="2400" b="1" dirty="0">
                        <a:solidFill>
                          <a:schemeClr val="tx1"/>
                        </a:solidFill>
                        <a:latin typeface="Arial" panose="020B0604020202020204" pitchFamily="34" charset="0"/>
                        <a:cs typeface="Arial" panose="020B0604020202020204" pitchFamily="34" charset="0"/>
                      </a:endParaRPr>
                    </a:p>
                  </a:txBody>
                  <a:tcPr marL="121900" marR="121900" marT="121900" marB="121900">
                    <a:lnL w="9525" cap="flat" cmpd="sng">
                      <a:solidFill>
                        <a:srgbClr val="888888"/>
                      </a:solidFill>
                      <a:prstDash val="solid"/>
                      <a:round/>
                      <a:headEnd type="none" w="sm" len="sm"/>
                      <a:tailEnd type="none" w="sm" len="sm"/>
                    </a:lnL>
                    <a:lnR w="9525" cap="flat" cmpd="sng">
                      <a:solidFill>
                        <a:srgbClr val="888888"/>
                      </a:solidFill>
                      <a:prstDash val="solid"/>
                      <a:round/>
                      <a:headEnd type="none" w="sm" len="sm"/>
                      <a:tailEnd type="none" w="sm" len="sm"/>
                    </a:lnR>
                    <a:lnT w="9525" cap="flat" cmpd="sng">
                      <a:solidFill>
                        <a:srgbClr val="888888"/>
                      </a:solidFill>
                      <a:prstDash val="solid"/>
                      <a:round/>
                      <a:headEnd type="none" w="sm" len="sm"/>
                      <a:tailEnd type="none" w="sm" len="sm"/>
                    </a:lnT>
                    <a:lnB w="9525" cap="flat" cmpd="sng">
                      <a:solidFill>
                        <a:srgbClr val="888888"/>
                      </a:solidFill>
                      <a:prstDash val="solid"/>
                      <a:round/>
                      <a:headEnd type="none" w="sm" len="sm"/>
                      <a:tailEnd type="none" w="sm" len="sm"/>
                    </a:lnB>
                  </a:tcPr>
                </a:tc>
                <a:extLst>
                  <a:ext uri="{0D108BD9-81ED-4DB2-BD59-A6C34878D82A}">
                    <a16:rowId xmlns:a16="http://schemas.microsoft.com/office/drawing/2014/main" val="10000"/>
                  </a:ext>
                </a:extLst>
              </a:tr>
              <a:tr h="664424">
                <a:tc>
                  <a:txBody>
                    <a:bodyPr/>
                    <a:lstStyle/>
                    <a:p>
                      <a:pPr marL="0" lvl="0" indent="0" algn="l" rtl="0">
                        <a:lnSpc>
                          <a:spcPct val="115000"/>
                        </a:lnSpc>
                        <a:spcBef>
                          <a:spcPts val="0"/>
                        </a:spcBef>
                        <a:spcAft>
                          <a:spcPts val="1200"/>
                        </a:spcAft>
                        <a:buNone/>
                      </a:pPr>
                      <a:r>
                        <a:rPr lang="en-GB" sz="2400" dirty="0">
                          <a:solidFill>
                            <a:schemeClr val="tx1"/>
                          </a:solidFill>
                          <a:latin typeface="Arial" panose="020B0604020202020204" pitchFamily="34" charset="0"/>
                          <a:cs typeface="Arial" panose="020B0604020202020204" pitchFamily="34" charset="0"/>
                        </a:rPr>
                        <a:t>Employee recruitment</a:t>
                      </a:r>
                      <a:endParaRPr sz="2400" dirty="0">
                        <a:solidFill>
                          <a:schemeClr val="tx1"/>
                        </a:solidFill>
                        <a:latin typeface="Arial" panose="020B0604020202020204" pitchFamily="34" charset="0"/>
                        <a:cs typeface="Arial" panose="020B0604020202020204" pitchFamily="34" charset="0"/>
                      </a:endParaRPr>
                    </a:p>
                  </a:txBody>
                  <a:tcPr marL="121900" marR="121900" marT="121900" marB="121900">
                    <a:lnT w="9525" cap="flat" cmpd="sng">
                      <a:solidFill>
                        <a:srgbClr val="888888"/>
                      </a:solidFill>
                      <a:prstDash val="solid"/>
                      <a:round/>
                      <a:headEnd type="none" w="sm" len="sm"/>
                      <a:tailEnd type="none" w="sm" len="sm"/>
                    </a:lnT>
                  </a:tcPr>
                </a:tc>
                <a:extLst>
                  <a:ext uri="{0D108BD9-81ED-4DB2-BD59-A6C34878D82A}">
                    <a16:rowId xmlns:a16="http://schemas.microsoft.com/office/drawing/2014/main" val="10001"/>
                  </a:ext>
                </a:extLst>
              </a:tr>
              <a:tr h="664424">
                <a:tc>
                  <a:txBody>
                    <a:bodyPr/>
                    <a:lstStyle/>
                    <a:p>
                      <a:pPr marL="0" lvl="0" indent="0" algn="l" rtl="0">
                        <a:lnSpc>
                          <a:spcPct val="115000"/>
                        </a:lnSpc>
                        <a:spcBef>
                          <a:spcPts val="0"/>
                        </a:spcBef>
                        <a:spcAft>
                          <a:spcPts val="1200"/>
                        </a:spcAft>
                        <a:buClr>
                          <a:schemeClr val="dk1"/>
                        </a:buClr>
                        <a:buSzPts val="1100"/>
                        <a:buFont typeface="Arial"/>
                        <a:buNone/>
                      </a:pPr>
                      <a:r>
                        <a:rPr lang="en-GB" sz="2400" dirty="0">
                          <a:solidFill>
                            <a:schemeClr val="tx1"/>
                          </a:solidFill>
                          <a:latin typeface="Arial" panose="020B0604020202020204" pitchFamily="34" charset="0"/>
                          <a:cs typeface="Arial" panose="020B0604020202020204" pitchFamily="34" charset="0"/>
                        </a:rPr>
                        <a:t>Employee selection</a:t>
                      </a:r>
                      <a:endParaRPr sz="2400" dirty="0">
                        <a:solidFill>
                          <a:schemeClr val="tx1"/>
                        </a:solidFill>
                        <a:latin typeface="Arial" panose="020B0604020202020204" pitchFamily="34" charset="0"/>
                        <a:cs typeface="Arial" panose="020B0604020202020204" pitchFamily="34" charset="0"/>
                      </a:endParaRPr>
                    </a:p>
                  </a:txBody>
                  <a:tcPr marL="121900" marR="121900" marT="121900" marB="121900"/>
                </a:tc>
                <a:extLst>
                  <a:ext uri="{0D108BD9-81ED-4DB2-BD59-A6C34878D82A}">
                    <a16:rowId xmlns:a16="http://schemas.microsoft.com/office/drawing/2014/main" val="10002"/>
                  </a:ext>
                </a:extLst>
              </a:tr>
              <a:tr h="664424">
                <a:tc>
                  <a:txBody>
                    <a:bodyPr/>
                    <a:lstStyle/>
                    <a:p>
                      <a:pPr marL="0" lvl="0" indent="0" algn="l" rtl="0">
                        <a:lnSpc>
                          <a:spcPct val="115000"/>
                        </a:lnSpc>
                        <a:spcBef>
                          <a:spcPts val="0"/>
                        </a:spcBef>
                        <a:spcAft>
                          <a:spcPts val="1200"/>
                        </a:spcAft>
                        <a:buNone/>
                      </a:pPr>
                      <a:r>
                        <a:rPr lang="en-GB" sz="2400" dirty="0">
                          <a:solidFill>
                            <a:schemeClr val="tx1"/>
                          </a:solidFill>
                          <a:latin typeface="Arial" panose="020B0604020202020204" pitchFamily="34" charset="0"/>
                          <a:cs typeface="Arial" panose="020B0604020202020204" pitchFamily="34" charset="0"/>
                        </a:rPr>
                        <a:t>Employee development</a:t>
                      </a:r>
                      <a:endParaRPr sz="2400" dirty="0">
                        <a:solidFill>
                          <a:schemeClr val="tx1"/>
                        </a:solidFill>
                        <a:latin typeface="Arial" panose="020B0604020202020204" pitchFamily="34" charset="0"/>
                        <a:cs typeface="Arial" panose="020B0604020202020204" pitchFamily="34" charset="0"/>
                      </a:endParaRPr>
                    </a:p>
                  </a:txBody>
                  <a:tcPr marL="121900" marR="121900" marT="121900" marB="121900"/>
                </a:tc>
                <a:extLst>
                  <a:ext uri="{0D108BD9-81ED-4DB2-BD59-A6C34878D82A}">
                    <a16:rowId xmlns:a16="http://schemas.microsoft.com/office/drawing/2014/main" val="10003"/>
                  </a:ext>
                </a:extLst>
              </a:tr>
              <a:tr h="664424">
                <a:tc>
                  <a:txBody>
                    <a:bodyPr/>
                    <a:lstStyle/>
                    <a:p>
                      <a:pPr marL="0" lvl="0" indent="0" algn="l" rtl="0">
                        <a:lnSpc>
                          <a:spcPct val="115000"/>
                        </a:lnSpc>
                        <a:spcBef>
                          <a:spcPts val="0"/>
                        </a:spcBef>
                        <a:spcAft>
                          <a:spcPts val="1200"/>
                        </a:spcAft>
                        <a:buNone/>
                      </a:pPr>
                      <a:r>
                        <a:rPr lang="en-GB" sz="2400" dirty="0">
                          <a:solidFill>
                            <a:schemeClr val="tx1"/>
                          </a:solidFill>
                          <a:latin typeface="Arial" panose="020B0604020202020204" pitchFamily="34" charset="0"/>
                          <a:cs typeface="Arial" panose="020B0604020202020204" pitchFamily="34" charset="0"/>
                        </a:rPr>
                        <a:t>Employee transfers</a:t>
                      </a:r>
                      <a:endParaRPr sz="2400" dirty="0">
                        <a:solidFill>
                          <a:schemeClr val="tx1"/>
                        </a:solidFill>
                        <a:latin typeface="Arial" panose="020B0604020202020204" pitchFamily="34" charset="0"/>
                        <a:cs typeface="Arial" panose="020B0604020202020204" pitchFamily="34" charset="0"/>
                      </a:endParaRPr>
                    </a:p>
                  </a:txBody>
                  <a:tcPr marL="121900" marR="121900" marT="121900" marB="121900"/>
                </a:tc>
                <a:extLst>
                  <a:ext uri="{0D108BD9-81ED-4DB2-BD59-A6C34878D82A}">
                    <a16:rowId xmlns:a16="http://schemas.microsoft.com/office/drawing/2014/main" val="10004"/>
                  </a:ext>
                </a:extLst>
              </a:tr>
              <a:tr h="664424">
                <a:tc>
                  <a:txBody>
                    <a:bodyPr/>
                    <a:lstStyle/>
                    <a:p>
                      <a:pPr marL="0" lvl="0" indent="0" algn="l" rtl="0">
                        <a:lnSpc>
                          <a:spcPct val="115000"/>
                        </a:lnSpc>
                        <a:spcBef>
                          <a:spcPts val="0"/>
                        </a:spcBef>
                        <a:spcAft>
                          <a:spcPts val="1200"/>
                        </a:spcAft>
                        <a:buNone/>
                      </a:pPr>
                      <a:r>
                        <a:rPr lang="en-GB" sz="2400" dirty="0">
                          <a:solidFill>
                            <a:schemeClr val="tx1"/>
                          </a:solidFill>
                          <a:latin typeface="Arial" panose="020B0604020202020204" pitchFamily="34" charset="0"/>
                          <a:cs typeface="Arial" panose="020B0604020202020204" pitchFamily="34" charset="0"/>
                        </a:rPr>
                        <a:t>Employee retirements etc...</a:t>
                      </a:r>
                      <a:endParaRPr sz="2400" dirty="0">
                        <a:solidFill>
                          <a:schemeClr val="tx1"/>
                        </a:solidFill>
                        <a:latin typeface="Arial" panose="020B0604020202020204" pitchFamily="34" charset="0"/>
                        <a:cs typeface="Arial" panose="020B0604020202020204" pitchFamily="34" charset="0"/>
                      </a:endParaRPr>
                    </a:p>
                  </a:txBody>
                  <a:tcPr marL="121900" marR="121900" marT="121900" marB="121900"/>
                </a:tc>
                <a:extLst>
                  <a:ext uri="{0D108BD9-81ED-4DB2-BD59-A6C34878D82A}">
                    <a16:rowId xmlns:a16="http://schemas.microsoft.com/office/drawing/2014/main" val="10005"/>
                  </a:ext>
                </a:extLst>
              </a:tr>
            </a:tbl>
          </a:graphicData>
        </a:graphic>
      </p:graphicFrame>
      <p:sp>
        <p:nvSpPr>
          <p:cNvPr id="2" name="Slide Number Placeholder 1">
            <a:extLst>
              <a:ext uri="{FF2B5EF4-FFF2-40B4-BE49-F238E27FC236}">
                <a16:creationId xmlns:a16="http://schemas.microsoft.com/office/drawing/2014/main" id="{10130E65-369C-3554-F242-C3CCEC749BCE}"/>
              </a:ext>
            </a:extLst>
          </p:cNvPr>
          <p:cNvSpPr>
            <a:spLocks noGrp="1"/>
          </p:cNvSpPr>
          <p:nvPr>
            <p:ph type="sldNum" idx="12"/>
          </p:nvPr>
        </p:nvSpPr>
        <p:spPr/>
        <p:txBody>
          <a:bodyPr/>
          <a:lstStyle/>
          <a:p>
            <a:fld id="{00000000-1234-1234-1234-123412341234}" type="slidenum">
              <a:rPr lang="en-GB" smtClean="0"/>
              <a:pPr/>
              <a:t>27</a:t>
            </a:fld>
            <a:endParaRPr lang="en-GB"/>
          </a:p>
        </p:txBody>
      </p:sp>
    </p:spTree>
    <p:extLst>
      <p:ext uri="{BB962C8B-B14F-4D97-AF65-F5344CB8AC3E}">
        <p14:creationId xmlns:p14="http://schemas.microsoft.com/office/powerpoint/2010/main" val="26714872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8"/>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a:bodyPr>
          <a:lstStyle/>
          <a:p>
            <a:r>
              <a:rPr lang="en-GB" sz="3200" b="1" dirty="0">
                <a:solidFill>
                  <a:srgbClr val="0000FF"/>
                </a:solidFill>
                <a:latin typeface="Arial" panose="020B0604020202020204" pitchFamily="34" charset="0"/>
                <a:cs typeface="Arial" panose="020B0604020202020204" pitchFamily="34" charset="0"/>
              </a:rPr>
              <a:t>Different Types of Information</a:t>
            </a:r>
            <a:endParaRPr sz="3200" b="1" dirty="0">
              <a:solidFill>
                <a:srgbClr val="0000FF"/>
              </a:solidFill>
              <a:latin typeface="Arial" panose="020B0604020202020204" pitchFamily="34" charset="0"/>
              <a:cs typeface="Arial" panose="020B0604020202020204" pitchFamily="34" charset="0"/>
            </a:endParaRPr>
          </a:p>
        </p:txBody>
      </p:sp>
      <p:sp>
        <p:nvSpPr>
          <p:cNvPr id="227" name="Google Shape;227;p38"/>
          <p:cNvSpPr txBox="1">
            <a:spLocks noGrp="1"/>
          </p:cNvSpPr>
          <p:nvPr>
            <p:ph type="body" idx="1"/>
          </p:nvPr>
        </p:nvSpPr>
        <p:spPr>
          <a:xfrm>
            <a:off x="415600" y="1536633"/>
            <a:ext cx="11218400" cy="5030400"/>
          </a:xfrm>
          <a:prstGeom prst="rect">
            <a:avLst/>
          </a:prstGeom>
        </p:spPr>
        <p:txBody>
          <a:bodyPr spcFirstLastPara="1" vert="horz" wrap="square" lIns="121900" tIns="121900" rIns="121900" bIns="121900" rtlCol="0" anchor="t" anchorCtr="0">
            <a:normAutofit/>
          </a:bodyPr>
          <a:lstStyle/>
          <a:p>
            <a:pPr indent="-474121">
              <a:buSzPts val="2000"/>
            </a:pPr>
            <a:r>
              <a:rPr lang="en-GB" sz="2667" dirty="0">
                <a:latin typeface="Avenir Next LT Pro (Body)"/>
              </a:rPr>
              <a:t>Information could be classified on the basis of the purpose for which it is utilised, into three main categories</a:t>
            </a:r>
          </a:p>
          <a:p>
            <a:pPr marL="135463" indent="0">
              <a:buSzPts val="2000"/>
              <a:buNone/>
            </a:pPr>
            <a:endParaRPr sz="2667" dirty="0">
              <a:latin typeface="Avenir Next LT Pro (Body)"/>
            </a:endParaRPr>
          </a:p>
          <a:p>
            <a:pPr lvl="1" indent="-474121">
              <a:buSzPts val="2000"/>
            </a:pPr>
            <a:r>
              <a:rPr lang="en-GB" b="1" dirty="0">
                <a:latin typeface="Avenir Next LT Pro (Body)"/>
              </a:rPr>
              <a:t>Strategic information</a:t>
            </a:r>
            <a:r>
              <a:rPr lang="en-GB" dirty="0">
                <a:latin typeface="Avenir Next LT Pro (Body)"/>
              </a:rPr>
              <a:t> - it is required by the managers at the strategic level of management for the formulation of organisational strategies.</a:t>
            </a:r>
          </a:p>
          <a:p>
            <a:pPr marL="745048" lvl="1" indent="0">
              <a:buSzPts val="2000"/>
              <a:buNone/>
            </a:pPr>
            <a:endParaRPr dirty="0">
              <a:latin typeface="Avenir Next LT Pro (Body)"/>
            </a:endParaRPr>
          </a:p>
          <a:p>
            <a:pPr lvl="1" indent="-474121">
              <a:buSzPts val="2000"/>
            </a:pPr>
            <a:r>
              <a:rPr lang="en-GB" b="1" dirty="0">
                <a:latin typeface="Avenir Next LT Pro (Body)"/>
              </a:rPr>
              <a:t>Tactical information</a:t>
            </a:r>
            <a:r>
              <a:rPr lang="en-GB" dirty="0">
                <a:latin typeface="Avenir Next LT Pro (Body)"/>
              </a:rPr>
              <a:t> - information in this category is used in </a:t>
            </a:r>
            <a:r>
              <a:rPr lang="en-GB" b="1" dirty="0">
                <a:solidFill>
                  <a:srgbClr val="FF0000"/>
                </a:solidFill>
                <a:latin typeface="Avenir Next LT Pro (Body)"/>
              </a:rPr>
              <a:t>short term planning </a:t>
            </a:r>
            <a:r>
              <a:rPr lang="en-GB" dirty="0">
                <a:latin typeface="Avenir Next LT Pro (Body)"/>
              </a:rPr>
              <a:t>and is of use at </a:t>
            </a:r>
            <a:r>
              <a:rPr lang="en-GB" b="1" dirty="0">
                <a:latin typeface="Avenir Next LT Pro (Body)"/>
              </a:rPr>
              <a:t>management control level</a:t>
            </a:r>
            <a:r>
              <a:rPr lang="en-GB" dirty="0">
                <a:latin typeface="Avenir Next LT Pro (Body)"/>
              </a:rPr>
              <a:t>.</a:t>
            </a:r>
          </a:p>
          <a:p>
            <a:pPr marL="745048" lvl="1" indent="0">
              <a:buSzPts val="2000"/>
              <a:buNone/>
            </a:pPr>
            <a:endParaRPr dirty="0">
              <a:latin typeface="Avenir Next LT Pro (Body)"/>
            </a:endParaRPr>
          </a:p>
          <a:p>
            <a:pPr lvl="1" indent="-474121">
              <a:buSzPts val="2000"/>
            </a:pPr>
            <a:r>
              <a:rPr lang="en-GB" b="1" dirty="0">
                <a:latin typeface="Avenir Next LT Pro (Body)"/>
              </a:rPr>
              <a:t>Operational information</a:t>
            </a:r>
            <a:r>
              <a:rPr lang="en-GB" dirty="0">
                <a:latin typeface="Avenir Next LT Pro (Body)"/>
              </a:rPr>
              <a:t> - it applies to </a:t>
            </a:r>
            <a:r>
              <a:rPr lang="en-GB" b="1" dirty="0">
                <a:latin typeface="Avenir Next LT Pro (Body)"/>
              </a:rPr>
              <a:t>short periods</a:t>
            </a:r>
            <a:r>
              <a:rPr lang="en-GB" dirty="0">
                <a:latin typeface="Avenir Next LT Pro (Body)"/>
              </a:rPr>
              <a:t> which may vary from </a:t>
            </a:r>
            <a:r>
              <a:rPr lang="en-GB" b="1" dirty="0">
                <a:solidFill>
                  <a:srgbClr val="FF0000"/>
                </a:solidFill>
                <a:latin typeface="Avenir Next LT Pro (Body)"/>
              </a:rPr>
              <a:t>an hour to a few days.</a:t>
            </a:r>
            <a:endParaRPr dirty="0">
              <a:latin typeface="Avenir Next LT Pro (Body)"/>
            </a:endParaRPr>
          </a:p>
        </p:txBody>
      </p:sp>
      <p:sp>
        <p:nvSpPr>
          <p:cNvPr id="2" name="Slide Number Placeholder 1">
            <a:extLst>
              <a:ext uri="{FF2B5EF4-FFF2-40B4-BE49-F238E27FC236}">
                <a16:creationId xmlns:a16="http://schemas.microsoft.com/office/drawing/2014/main" id="{97B87575-B5A2-BAFD-0017-06EAAB1BD5F6}"/>
              </a:ext>
            </a:extLst>
          </p:cNvPr>
          <p:cNvSpPr>
            <a:spLocks noGrp="1"/>
          </p:cNvSpPr>
          <p:nvPr>
            <p:ph type="sldNum" idx="12"/>
          </p:nvPr>
        </p:nvSpPr>
        <p:spPr/>
        <p:txBody>
          <a:bodyPr/>
          <a:lstStyle/>
          <a:p>
            <a:fld id="{00000000-1234-1234-1234-123412341234}" type="slidenum">
              <a:rPr lang="en-GB" smtClean="0"/>
              <a:pPr/>
              <a:t>28</a:t>
            </a:fld>
            <a:endParaRPr lang="en-GB"/>
          </a:p>
        </p:txBody>
      </p:sp>
    </p:spTree>
    <p:extLst>
      <p:ext uri="{BB962C8B-B14F-4D97-AF65-F5344CB8AC3E}">
        <p14:creationId xmlns:p14="http://schemas.microsoft.com/office/powerpoint/2010/main" val="8818602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9"/>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a:bodyPr>
          <a:lstStyle/>
          <a:p>
            <a:r>
              <a:rPr lang="en-GB" sz="3200" b="1" dirty="0">
                <a:solidFill>
                  <a:srgbClr val="0000FF"/>
                </a:solidFill>
                <a:latin typeface="Arial" panose="020B0604020202020204" pitchFamily="34" charset="0"/>
                <a:cs typeface="Arial" panose="020B0604020202020204" pitchFamily="34" charset="0"/>
              </a:rPr>
              <a:t>Need for Information System</a:t>
            </a:r>
            <a:endParaRPr sz="3200" b="1" dirty="0">
              <a:solidFill>
                <a:srgbClr val="0000FF"/>
              </a:solidFill>
              <a:latin typeface="Arial" panose="020B0604020202020204" pitchFamily="34" charset="0"/>
              <a:cs typeface="Arial" panose="020B0604020202020204" pitchFamily="34" charset="0"/>
            </a:endParaRPr>
          </a:p>
        </p:txBody>
      </p:sp>
      <p:sp>
        <p:nvSpPr>
          <p:cNvPr id="233" name="Google Shape;233;p39"/>
          <p:cNvSpPr txBox="1">
            <a:spLocks noGrp="1"/>
          </p:cNvSpPr>
          <p:nvPr>
            <p:ph type="body" idx="1"/>
          </p:nvPr>
        </p:nvSpPr>
        <p:spPr>
          <a:xfrm>
            <a:off x="415600" y="1536633"/>
            <a:ext cx="11218400" cy="5030400"/>
          </a:xfrm>
          <a:prstGeom prst="rect">
            <a:avLst/>
          </a:prstGeom>
        </p:spPr>
        <p:txBody>
          <a:bodyPr spcFirstLastPara="1" vert="horz" wrap="square" lIns="121900" tIns="121900" rIns="121900" bIns="121900" rtlCol="0" anchor="t" anchorCtr="0">
            <a:normAutofit lnSpcReduction="10000"/>
          </a:bodyPr>
          <a:lstStyle/>
          <a:p>
            <a:pPr indent="-474121">
              <a:lnSpc>
                <a:spcPct val="200000"/>
              </a:lnSpc>
              <a:buSzPts val="2000"/>
            </a:pPr>
            <a:r>
              <a:rPr lang="en-GB" sz="2667" dirty="0">
                <a:latin typeface="Avenir Next LT Pro (Body)"/>
              </a:rPr>
              <a:t>Meeting global challenges</a:t>
            </a:r>
            <a:endParaRPr sz="2667" dirty="0">
              <a:latin typeface="Avenir Next LT Pro (Body)"/>
            </a:endParaRPr>
          </a:p>
          <a:p>
            <a:pPr indent="-474121">
              <a:lnSpc>
                <a:spcPct val="200000"/>
              </a:lnSpc>
              <a:buSzPts val="2000"/>
            </a:pPr>
            <a:r>
              <a:rPr lang="en-GB" sz="2667" dirty="0">
                <a:latin typeface="Avenir Next LT Pro (Body)"/>
              </a:rPr>
              <a:t>Capturing opportunities in marketplace</a:t>
            </a:r>
            <a:endParaRPr sz="2667" dirty="0">
              <a:latin typeface="Avenir Next LT Pro (Body)"/>
            </a:endParaRPr>
          </a:p>
          <a:p>
            <a:pPr indent="-474121">
              <a:lnSpc>
                <a:spcPct val="200000"/>
              </a:lnSpc>
              <a:buSzPts val="2000"/>
            </a:pPr>
            <a:r>
              <a:rPr lang="en-GB" sz="2667" dirty="0">
                <a:latin typeface="Avenir Next LT Pro (Body)"/>
              </a:rPr>
              <a:t>Supporting corporate strategy</a:t>
            </a:r>
            <a:endParaRPr sz="2667" dirty="0">
              <a:latin typeface="Avenir Next LT Pro (Body)"/>
            </a:endParaRPr>
          </a:p>
          <a:p>
            <a:pPr indent="-474121">
              <a:lnSpc>
                <a:spcPct val="200000"/>
              </a:lnSpc>
              <a:buSzPts val="2000"/>
            </a:pPr>
            <a:r>
              <a:rPr lang="en-GB" sz="2667" dirty="0">
                <a:latin typeface="Avenir Next LT Pro (Body)"/>
              </a:rPr>
              <a:t>Linking departments whose functions are different</a:t>
            </a:r>
            <a:endParaRPr sz="2667" dirty="0">
              <a:latin typeface="Avenir Next LT Pro (Body)"/>
            </a:endParaRPr>
          </a:p>
          <a:p>
            <a:pPr indent="-474121">
              <a:lnSpc>
                <a:spcPct val="200000"/>
              </a:lnSpc>
              <a:buSzPts val="2000"/>
            </a:pPr>
            <a:r>
              <a:rPr lang="en-GB" sz="2667" dirty="0">
                <a:latin typeface="Avenir Next LT Pro (Body)"/>
              </a:rPr>
              <a:t>Enhancing worker productivity</a:t>
            </a:r>
            <a:endParaRPr sz="2667" dirty="0">
              <a:latin typeface="Avenir Next LT Pro (Body)"/>
            </a:endParaRPr>
          </a:p>
          <a:p>
            <a:pPr indent="-474121">
              <a:lnSpc>
                <a:spcPct val="200000"/>
              </a:lnSpc>
              <a:buSzPts val="2000"/>
            </a:pPr>
            <a:r>
              <a:rPr lang="en-GB" sz="2667" dirty="0">
                <a:latin typeface="Avenir Next LT Pro (Body)"/>
              </a:rPr>
              <a:t>Increase in quality of goods and services</a:t>
            </a:r>
            <a:endParaRPr sz="2667" dirty="0">
              <a:latin typeface="Avenir Next LT Pro (Body)"/>
            </a:endParaRPr>
          </a:p>
        </p:txBody>
      </p:sp>
      <p:sp>
        <p:nvSpPr>
          <p:cNvPr id="2" name="Slide Number Placeholder 1">
            <a:extLst>
              <a:ext uri="{FF2B5EF4-FFF2-40B4-BE49-F238E27FC236}">
                <a16:creationId xmlns:a16="http://schemas.microsoft.com/office/drawing/2014/main" id="{0DD673BB-2112-EAB3-4C8D-9BDA0D03858F}"/>
              </a:ext>
            </a:extLst>
          </p:cNvPr>
          <p:cNvSpPr>
            <a:spLocks noGrp="1"/>
          </p:cNvSpPr>
          <p:nvPr>
            <p:ph type="sldNum" idx="12"/>
          </p:nvPr>
        </p:nvSpPr>
        <p:spPr/>
        <p:txBody>
          <a:bodyPr/>
          <a:lstStyle/>
          <a:p>
            <a:fld id="{00000000-1234-1234-1234-123412341234}" type="slidenum">
              <a:rPr lang="en-GB" smtClean="0"/>
              <a:pPr/>
              <a:t>29</a:t>
            </a:fld>
            <a:endParaRPr lang="en-GB"/>
          </a:p>
        </p:txBody>
      </p:sp>
    </p:spTree>
    <p:extLst>
      <p:ext uri="{BB962C8B-B14F-4D97-AF65-F5344CB8AC3E}">
        <p14:creationId xmlns:p14="http://schemas.microsoft.com/office/powerpoint/2010/main" val="13746466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696</TotalTime>
  <Words>1688</Words>
  <Application>Microsoft Office PowerPoint</Application>
  <PresentationFormat>Widescreen</PresentationFormat>
  <Paragraphs>223</Paragraphs>
  <Slides>29</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Arial</vt:lpstr>
      <vt:lpstr>Avenir Next LT Pro (Body)</vt:lpstr>
      <vt:lpstr>Calibri</vt:lpstr>
      <vt:lpstr>Calibri Light</vt:lpstr>
      <vt:lpstr>Roboto</vt:lpstr>
      <vt:lpstr>Vrinda</vt:lpstr>
      <vt:lpstr>Wingdings</vt:lpstr>
      <vt:lpstr>Office Theme</vt:lpstr>
      <vt:lpstr>      Chapter 1 </vt:lpstr>
      <vt:lpstr>Learning Objectives</vt:lpstr>
      <vt:lpstr>    What is a Management Information System? </vt:lpstr>
      <vt:lpstr>Elements of  Management Information System </vt:lpstr>
      <vt:lpstr>Role of Management Information Systems in an Organization</vt:lpstr>
      <vt:lpstr>Role of Management Information Systems in an Organization(cont.)</vt:lpstr>
      <vt:lpstr>The Interdependence Between Organizations and Information Technology</vt:lpstr>
      <vt:lpstr>Two important things to understand in management.  </vt:lpstr>
      <vt:lpstr>Management Hierarchy </vt:lpstr>
      <vt:lpstr>             Management Hierarchy in depth </vt:lpstr>
      <vt:lpstr>Strategic Business Objectives of Information System</vt:lpstr>
      <vt:lpstr>Strategic Business Objectives of Information System(cont.)</vt:lpstr>
      <vt:lpstr>Strategic Business Objectives of Information System(cont.)</vt:lpstr>
      <vt:lpstr>Strategic Business Objectives of Information System(cont.)</vt:lpstr>
      <vt:lpstr>Strategic Business Objectives of Information System(cont.)</vt:lpstr>
      <vt:lpstr>Strategic Business Objectives of Information System(cont.)</vt:lpstr>
      <vt:lpstr>Strategic Business Objectives of Information System(cont.)</vt:lpstr>
      <vt:lpstr>Data and Information</vt:lpstr>
      <vt:lpstr>Data and Information(Cont.)</vt:lpstr>
      <vt:lpstr>System </vt:lpstr>
      <vt:lpstr>Three activities of information systems produce information organizations need  </vt:lpstr>
      <vt:lpstr>Various Function of Information System </vt:lpstr>
      <vt:lpstr>Various Functions of Information System </vt:lpstr>
      <vt:lpstr>Various Functions of Information System </vt:lpstr>
      <vt:lpstr>Various Functions of Information Systems</vt:lpstr>
      <vt:lpstr>Various Functions of Information Systems</vt:lpstr>
      <vt:lpstr>Various Functions of Information Systems</vt:lpstr>
      <vt:lpstr>Different Types of Information</vt:lpstr>
      <vt:lpstr>Need for Information System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Masuda Akhtar</dc:creator>
  <cp:lastModifiedBy>Masuda Akhtar</cp:lastModifiedBy>
  <cp:revision>116</cp:revision>
  <dcterms:created xsi:type="dcterms:W3CDTF">2026-01-21T05:14:08Z</dcterms:created>
  <dcterms:modified xsi:type="dcterms:W3CDTF">2026-01-27T09:39:05Z</dcterms:modified>
</cp:coreProperties>
</file>